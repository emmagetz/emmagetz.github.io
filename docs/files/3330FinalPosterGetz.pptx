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6"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 roundtripDataSignature="AMtx7mgnZ8hJot6L2IRitQqSTlK+UGJjf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AE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474" autoAdjust="0"/>
    <p:restoredTop sz="94660"/>
  </p:normalViewPr>
  <p:slideViewPr>
    <p:cSldViewPr snapToGrid="0">
      <p:cViewPr varScale="1">
        <p:scale>
          <a:sx n="59" d="100"/>
          <a:sy n="59" d="100"/>
        </p:scale>
        <p:origin x="109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customschemas.google.com/relationships/presentationmetadata" Target="metadata"/><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a:p>
            <a:pPr marL="0" lvl="0" indent="0" algn="l" rtl="0">
              <a:spcBef>
                <a:spcPts val="0"/>
              </a:spcBef>
              <a:spcAft>
                <a:spcPts val="0"/>
              </a:spcAft>
              <a:buClr>
                <a:schemeClr val="dk1"/>
              </a:buClr>
              <a:buSzPts val="1200"/>
              <a:buFont typeface="Arial"/>
              <a:buNone/>
            </a:pPr>
            <a:endParaRPr dirty="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8E376-7415-2060-B338-07EC2BA7D5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85139B1-D930-F6C4-12E9-393CE919B2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E8BFA38-0290-912D-FEDD-E4D9CCCEFC8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2AEAED6-C217-C774-719E-A9892E5B62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7B7E38-18C8-8171-9B15-09323F14B55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37720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BD526-8655-DC39-9094-A388E611AD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88A45C-F114-41D0-581B-1600BBA61A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8B767A-769E-9A10-3DCC-3668AC35195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7F73993-9CA2-47D1-9D3F-B6A83AD235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31DFD1-924E-ABA3-B8A5-70522D1A0E7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3516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AE211-97EE-659F-6086-D61C968D98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6F2719-21FF-26DD-3451-049BBB0B6C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CE2A0A-8DE0-6F98-E81B-12A3B7E8D1A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7D0BF7C-60FF-954C-BC06-D71779B08F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814772-A95A-13BB-A3A8-8C1BDBF9575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0572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004CC-00CA-AC84-7623-275DBD2393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385D07-05BC-0F60-7EBC-44DB6062D7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0F73AA-115C-0D2B-8D50-2029889D4C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09BF168-2C1B-BFC8-EFAF-F134D83251B9}"/>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A850230-ABB0-A9DA-FBEC-EB4175C462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E28A54-3F7A-CD56-E2C9-1BE7D82D97E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44250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CFE3E-68A6-1C28-E474-7FA64069677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2E4232-5BAB-2A91-3205-9250F31BAC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10651D-C8B7-2449-CDDC-7249256AEA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81168C-E5E0-E980-B058-6DAF2460E7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28EF9F-10E8-F121-F7FE-1806D49A0D6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282C4F-15FA-A884-BE87-1D88419BDDF9}"/>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328041EB-D9F8-5231-6C5F-A9BD84563B0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BA096B6-B0BD-F99E-26B0-334575B293F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97198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BCA73-7141-895D-817E-86A8C897A1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C81EBE-E411-0A25-3787-F31C8B21755B}"/>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C772D143-536E-8EA8-2441-9860EDA9CB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72BCDF-4CB1-FF47-9D1C-11FBF773FBF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92492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15DEBF-6F13-5A13-23EA-1FD647B3B80B}"/>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CA2A2652-A40B-17F3-2BDE-564D55A5E3E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FA8B591-719F-189B-D781-61078B3947E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27750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6161F-0EF8-2E13-C8EC-19B5CB6A54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E7B234E-2381-9D77-B4DD-ECF514F2EB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03D285-7B57-F692-C117-A363E2D702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47A11A-E587-73EE-F09E-730482226B9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40DF6442-CF81-B58B-7D42-95F93F64C4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D0F000-2631-7C05-86E3-E0A1D3A1B5E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4999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2A20B-85E8-636C-0487-D65E020D90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C48F5FB-9E4A-7A41-E676-2C93FA951C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2D055F-9074-58C5-F7D7-DD24512310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CDB637-E89D-244E-2B6E-EF8CC07D575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AB5E89E-CEBB-C613-EA60-4D4C445983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4F1FF0-15CE-7A00-7004-BB9359B2C93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2178416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9C904-1D81-DB41-BF8A-1423289CF09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FFFCBA-1B28-8AF8-1DCF-0E3B7CAAC0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8949B1-F19C-02A9-6E7C-27D15A77BA9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81FCBF3-A4C3-8D65-1219-F47FF57B30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5FE4CF-E830-4F87-693E-9F9C9AD1347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89564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B52F2E-2160-3230-0B4E-A4B52D70430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B5F1C01-45B0-8048-661C-B2A744A2F2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52C7C4-F152-8DEA-2DEB-59C0CF17DE4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36757F3-8E16-C064-2FB0-86998CD523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BE5914-352B-64BB-ADDC-706EFC36C3A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30921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6696F2-7D55-9618-3BBE-FC61CD56D0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27426B-0AD5-A36D-E70D-75BFDC3B06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39A0FF-683D-A01E-3F7E-05ECAD6F56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F811E75B-EA91-B20D-6E24-5B3663D787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814A7AD-31A0-7604-6A29-E3151D5867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616940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doi.org/10.1177/1469787418808988" TargetMode="External"/><Relationship Id="rId7" Type="http://schemas.openxmlformats.org/officeDocument/2006/relationships/hyperlink" Target="https://doi.org/10.3200/jach.56.6.675-679" TargetMode="External"/><Relationship Id="rId2" Type="http://schemas.openxmlformats.org/officeDocument/2006/relationships/hyperlink" Target="https://doi.org/10.1007/s10834-007-9087-2" TargetMode="External"/><Relationship Id="rId1" Type="http://schemas.openxmlformats.org/officeDocument/2006/relationships/slideLayout" Target="../slideLayouts/slideLayout2.xml"/><Relationship Id="rId6" Type="http://schemas.openxmlformats.org/officeDocument/2006/relationships/hyperlink" Target="https://doi.org/10.1080/1937156x.2020.1760751" TargetMode="External"/><Relationship Id="rId5" Type="http://schemas.openxmlformats.org/officeDocument/2006/relationships/hyperlink" Target="https://educationdata.org/college-enrollment-statistics" TargetMode="External"/><Relationship Id="rId4" Type="http://schemas.openxmlformats.org/officeDocument/2006/relationships/hyperlink" Target="https://datausa.io/profile/university/appalachian-state-universit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p:nvPr/>
        </p:nvSpPr>
        <p:spPr>
          <a:xfrm>
            <a:off x="2926029" y="1065017"/>
            <a:ext cx="6389029" cy="5795983"/>
          </a:xfrm>
          <a:prstGeom prst="rect">
            <a:avLst/>
          </a:prstGeom>
          <a:solidFill>
            <a:schemeClr val="accent4">
              <a:lumMod val="75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75" b="0" i="0" u="none" strike="noStrike" cap="none">
              <a:solidFill>
                <a:schemeClr val="lt1"/>
              </a:solidFill>
              <a:latin typeface="Calibri"/>
              <a:ea typeface="Calibri"/>
              <a:cs typeface="Calibri"/>
              <a:sym typeface="Calibri"/>
            </a:endParaRPr>
          </a:p>
        </p:txBody>
      </p:sp>
      <p:sp>
        <p:nvSpPr>
          <p:cNvPr id="90" name="Google Shape;90;p1"/>
          <p:cNvSpPr/>
          <p:nvPr/>
        </p:nvSpPr>
        <p:spPr>
          <a:xfrm>
            <a:off x="88979" y="1086437"/>
            <a:ext cx="2845118" cy="5689312"/>
          </a:xfrm>
          <a:prstGeom prst="rect">
            <a:avLst/>
          </a:prstGeom>
          <a:solidFill>
            <a:schemeClr val="lt1"/>
          </a:solidFill>
          <a:ln>
            <a:noFill/>
          </a:ln>
        </p:spPr>
        <p:txBody>
          <a:bodyPr spcFirstLastPara="1" wrap="square" lIns="76200" tIns="133350" rIns="76200" bIns="45700" anchor="t" anchorCtr="0">
            <a:noAutofit/>
          </a:bodyPr>
          <a:lstStyle/>
          <a:p>
            <a:pPr marL="0" marR="0" lvl="0" indent="0" rtl="0">
              <a:spcBef>
                <a:spcPts val="500"/>
              </a:spcBef>
              <a:spcAft>
                <a:spcPts val="0"/>
              </a:spcAft>
              <a:buNone/>
            </a:pPr>
            <a:r>
              <a:rPr lang="en-US" sz="650" b="1" i="0" u="none" strike="noStrike" cap="none" dirty="0">
                <a:solidFill>
                  <a:schemeClr val="dk1"/>
                </a:solidFill>
                <a:latin typeface="Arial"/>
                <a:ea typeface="Arial"/>
                <a:cs typeface="Arial"/>
                <a:sym typeface="Arial"/>
              </a:rPr>
              <a:t>Purpose &amp; Hypotheses</a:t>
            </a:r>
          </a:p>
          <a:p>
            <a:pPr marL="0" marR="0" lvl="0" indent="0" rtl="0">
              <a:spcBef>
                <a:spcPts val="500"/>
              </a:spcBef>
              <a:spcAft>
                <a:spcPts val="0"/>
              </a:spcAft>
              <a:buNone/>
            </a:pPr>
            <a:r>
              <a:rPr lang="en-US" sz="580" i="0" u="none" strike="noStrike" cap="none" dirty="0">
                <a:solidFill>
                  <a:schemeClr val="dk1"/>
                </a:solidFill>
                <a:latin typeface="Arial"/>
                <a:ea typeface="Arial"/>
                <a:cs typeface="Arial"/>
                <a:sym typeface="Arial"/>
              </a:rPr>
              <a:t>My goal for this project was to evaluate whether being an employee is associated with the number of extracurricular activities students are involved with. The null hypothesis (Ho) is, “students who are current employees are involved in extracurricular activities </a:t>
            </a:r>
            <a:r>
              <a:rPr lang="en-US" sz="580" b="1" i="0" u="none" strike="noStrike" cap="none" dirty="0">
                <a:solidFill>
                  <a:schemeClr val="dk1"/>
                </a:solidFill>
                <a:latin typeface="Arial"/>
                <a:ea typeface="Arial"/>
                <a:cs typeface="Arial"/>
                <a:sym typeface="Arial"/>
              </a:rPr>
              <a:t>at the same rate </a:t>
            </a:r>
            <a:r>
              <a:rPr lang="en-US" sz="580" i="0" u="none" strike="noStrike" cap="none" dirty="0">
                <a:solidFill>
                  <a:schemeClr val="dk1"/>
                </a:solidFill>
                <a:latin typeface="Arial"/>
                <a:ea typeface="Arial"/>
                <a:cs typeface="Arial"/>
                <a:sym typeface="Arial"/>
              </a:rPr>
              <a:t>as students who are not current employees.” The alternative hypothesis (Ha) is, “students who are current employees are involved in extracurricular activities </a:t>
            </a:r>
            <a:r>
              <a:rPr lang="en-US" sz="580" b="1" i="0" u="none" strike="noStrike" cap="none" dirty="0">
                <a:solidFill>
                  <a:schemeClr val="dk1"/>
                </a:solidFill>
                <a:latin typeface="Arial"/>
                <a:ea typeface="Arial"/>
                <a:cs typeface="Arial"/>
                <a:sym typeface="Arial"/>
              </a:rPr>
              <a:t>at a different rate </a:t>
            </a:r>
            <a:r>
              <a:rPr lang="en-US" sz="580" i="0" u="none" strike="noStrike" cap="none" dirty="0">
                <a:solidFill>
                  <a:schemeClr val="dk1"/>
                </a:solidFill>
                <a:latin typeface="Arial"/>
                <a:ea typeface="Arial"/>
                <a:cs typeface="Arial"/>
                <a:sym typeface="Arial"/>
              </a:rPr>
              <a:t>as students who are not current employees.”</a:t>
            </a:r>
          </a:p>
          <a:p>
            <a:pPr marL="0" marR="0" lvl="0" indent="0" rtl="0">
              <a:spcBef>
                <a:spcPts val="500"/>
              </a:spcBef>
              <a:spcAft>
                <a:spcPts val="0"/>
              </a:spcAft>
              <a:buNone/>
            </a:pPr>
            <a:r>
              <a:rPr lang="en-US" sz="650" b="1" i="0" u="none" strike="noStrike" cap="none" dirty="0">
                <a:solidFill>
                  <a:schemeClr val="dk1"/>
                </a:solidFill>
                <a:latin typeface="Arial"/>
                <a:ea typeface="Arial"/>
                <a:cs typeface="Arial"/>
                <a:sym typeface="Arial"/>
              </a:rPr>
              <a:t>Background</a:t>
            </a:r>
          </a:p>
          <a:p>
            <a:pPr marL="0" marR="0" lvl="0" indent="0" rtl="0">
              <a:spcBef>
                <a:spcPts val="500"/>
              </a:spcBef>
              <a:spcAft>
                <a:spcPts val="0"/>
              </a:spcAft>
              <a:buNone/>
            </a:pPr>
            <a:r>
              <a:rPr lang="en-US" sz="580" i="0" u="none" strike="noStrike" cap="none" dirty="0">
                <a:solidFill>
                  <a:schemeClr val="dk1"/>
                </a:solidFill>
                <a:latin typeface="Arial"/>
                <a:ea typeface="Arial"/>
                <a:cs typeface="Arial"/>
                <a:sym typeface="Arial"/>
              </a:rPr>
              <a:t>Extracurricular activities have been proven to be a positive addition to a student's college experience by creating social ties and providing new opportunities to students (Buckley &amp; Lee, 2018). </a:t>
            </a:r>
            <a:r>
              <a:rPr lang="en-US" sz="580" b="1" i="0" u="none" strike="noStrike" cap="none" dirty="0">
                <a:solidFill>
                  <a:schemeClr val="dk1"/>
                </a:solidFill>
                <a:latin typeface="Arial"/>
                <a:ea typeface="Arial"/>
                <a:cs typeface="Arial"/>
                <a:sym typeface="Arial"/>
              </a:rPr>
              <a:t>43%</a:t>
            </a:r>
            <a:r>
              <a:rPr lang="en-US" sz="580" i="0" u="none" strike="noStrike" cap="none" dirty="0">
                <a:solidFill>
                  <a:schemeClr val="dk1"/>
                </a:solidFill>
                <a:latin typeface="Arial"/>
                <a:ea typeface="Arial"/>
                <a:cs typeface="Arial"/>
                <a:sym typeface="Arial"/>
              </a:rPr>
              <a:t> of students at ASU reported being currently employed (Campus Wellness Assessment, 2019). Since employment affects factors such as free time and energy, I wanted to see if there was a relationship between these two factors. This is important to public health because the overall well-being of students can be affected by employment status and employment, and a relationship between the two should be addressed to see if there is a need for further investigation. </a:t>
            </a:r>
          </a:p>
          <a:p>
            <a:pPr marL="0" marR="0" lvl="0" indent="0" rtl="0">
              <a:spcBef>
                <a:spcPts val="500"/>
              </a:spcBef>
              <a:spcAft>
                <a:spcPts val="0"/>
              </a:spcAft>
              <a:buNone/>
            </a:pPr>
            <a:r>
              <a:rPr lang="en-US" sz="650" b="1" i="0" u="none" strike="noStrike" cap="none" dirty="0">
                <a:solidFill>
                  <a:schemeClr val="dk1"/>
                </a:solidFill>
                <a:latin typeface="Arial"/>
                <a:ea typeface="Arial"/>
                <a:cs typeface="Arial"/>
                <a:sym typeface="Arial"/>
              </a:rPr>
              <a:t>Methods</a:t>
            </a:r>
          </a:p>
          <a:p>
            <a:pPr marL="0" marR="0" lvl="0" indent="0" rtl="0">
              <a:spcBef>
                <a:spcPts val="500"/>
              </a:spcBef>
              <a:spcAft>
                <a:spcPts val="0"/>
              </a:spcAft>
              <a:buNone/>
            </a:pPr>
            <a:r>
              <a:rPr lang="en-US" sz="580" i="0" u="none" strike="noStrike" cap="none" dirty="0">
                <a:solidFill>
                  <a:schemeClr val="dk1"/>
                </a:solidFill>
                <a:latin typeface="Arial"/>
                <a:ea typeface="Arial"/>
                <a:cs typeface="Arial"/>
                <a:sym typeface="Arial"/>
              </a:rPr>
              <a:t> Data was collected from a sample of 1560 students at ASU with subjects being recruited using a randomized controlled trial and convenience sampling. Questions 16 and 17 state, “How many university sponsored extracurriculars...all Association (RHA) etc.) do you participate in?” and “Are you currently a wage-earning employee, either on-campus or off-campus?” The primary exposure variable for this study was employment status and the primary outcome variable for this study was extracurricular involvement. The statistical analyses conducted were a </a:t>
            </a:r>
            <a:r>
              <a:rPr lang="en-US" sz="580" b="1" i="0" u="none" strike="noStrike" cap="none" dirty="0">
                <a:solidFill>
                  <a:schemeClr val="dk1"/>
                </a:solidFill>
                <a:latin typeface="Arial"/>
                <a:ea typeface="Arial"/>
                <a:cs typeface="Arial"/>
                <a:sym typeface="Arial"/>
              </a:rPr>
              <a:t>chi-square test </a:t>
            </a:r>
            <a:r>
              <a:rPr lang="en-US" sz="580" i="0" u="none" strike="noStrike" cap="none" dirty="0">
                <a:solidFill>
                  <a:schemeClr val="dk1"/>
                </a:solidFill>
                <a:latin typeface="Arial"/>
                <a:ea typeface="Arial"/>
                <a:cs typeface="Arial"/>
                <a:sym typeface="Arial"/>
              </a:rPr>
              <a:t>and a </a:t>
            </a:r>
            <a:r>
              <a:rPr lang="en-US" sz="580" b="1" i="0" u="none" strike="noStrike" cap="none" dirty="0">
                <a:solidFill>
                  <a:schemeClr val="dk1"/>
                </a:solidFill>
                <a:latin typeface="Arial"/>
                <a:ea typeface="Arial"/>
                <a:cs typeface="Arial"/>
                <a:sym typeface="Arial"/>
              </a:rPr>
              <a:t>logistic regression</a:t>
            </a:r>
            <a:r>
              <a:rPr lang="en-US" sz="580" i="0" u="none" strike="noStrike" cap="none" dirty="0">
                <a:solidFill>
                  <a:schemeClr val="dk1"/>
                </a:solidFill>
                <a:latin typeface="Arial"/>
                <a:ea typeface="Arial"/>
                <a:cs typeface="Arial"/>
                <a:sym typeface="Arial"/>
              </a:rPr>
              <a:t>. There were no confounding variables included in the regression model, as confirmed by the DAG model.</a:t>
            </a:r>
          </a:p>
          <a:p>
            <a:pPr marL="0" marR="0" lvl="0" indent="0" rtl="0">
              <a:spcBef>
                <a:spcPts val="500"/>
              </a:spcBef>
              <a:spcAft>
                <a:spcPts val="0"/>
              </a:spcAft>
              <a:buNone/>
            </a:pPr>
            <a:r>
              <a:rPr lang="en-US" sz="650" b="1" i="0" u="none" strike="noStrike" cap="none" dirty="0">
                <a:solidFill>
                  <a:schemeClr val="dk1"/>
                </a:solidFill>
                <a:latin typeface="Arial"/>
                <a:ea typeface="Arial"/>
                <a:cs typeface="Arial"/>
                <a:sym typeface="Arial"/>
              </a:rPr>
              <a:t>Results</a:t>
            </a:r>
          </a:p>
          <a:p>
            <a:pPr marL="0" marR="0" lvl="0" indent="0" rtl="0">
              <a:spcBef>
                <a:spcPts val="500"/>
              </a:spcBef>
              <a:spcAft>
                <a:spcPts val="0"/>
              </a:spcAft>
              <a:buNone/>
            </a:pPr>
            <a:r>
              <a:rPr lang="en-US" sz="580" i="0" u="none" strike="noStrike" cap="none" dirty="0">
                <a:solidFill>
                  <a:schemeClr val="dk1"/>
                </a:solidFill>
                <a:latin typeface="Arial"/>
                <a:ea typeface="Arial"/>
                <a:cs typeface="Arial"/>
                <a:sym typeface="Arial"/>
              </a:rPr>
              <a:t>The question referring to the exposure originally contained three questions and I binned it into two categories: currently employed students and currently unemployed students / currently unemployed students actively searching for a job. The number of exposed students (currently employed) was 664. The number of unexposed students (not currently employed / actively seeking a job) was 891. The outcome of extracurricular involvement was originally divided into 0, 1-2, 3-4, and 5 or more. I binned these answers into two outcomes: 0-2 and 3+. There were 1319 students who participated in 0-2 extracurriculars and 228 students who participated in 3+ extracurriculars. The P-value from the chi-squared test is </a:t>
            </a:r>
            <a:r>
              <a:rPr lang="en-US" sz="580" b="1" i="0" u="none" strike="noStrike" cap="none" dirty="0">
                <a:solidFill>
                  <a:schemeClr val="dk1"/>
                </a:solidFill>
                <a:latin typeface="Arial"/>
                <a:ea typeface="Arial"/>
                <a:cs typeface="Arial"/>
                <a:sym typeface="Arial"/>
              </a:rPr>
              <a:t>0.00774</a:t>
            </a:r>
            <a:r>
              <a:rPr lang="en-US" sz="580" i="0" u="none" strike="noStrike" cap="none" dirty="0">
                <a:solidFill>
                  <a:schemeClr val="dk1"/>
                </a:solidFill>
                <a:latin typeface="Arial"/>
                <a:ea typeface="Arial"/>
                <a:cs typeface="Arial"/>
                <a:sym typeface="Arial"/>
              </a:rPr>
              <a:t>. This shows that the relationship between employment status and extracurricular involvement is significant. The odds ratio from the logistic regression analysis was </a:t>
            </a:r>
            <a:r>
              <a:rPr lang="en-US" sz="580" b="1" i="0" u="none" strike="noStrike" cap="none" dirty="0">
                <a:solidFill>
                  <a:schemeClr val="dk1"/>
                </a:solidFill>
                <a:latin typeface="Arial"/>
                <a:ea typeface="Arial"/>
                <a:cs typeface="Arial"/>
                <a:sym typeface="Arial"/>
              </a:rPr>
              <a:t>1.1.</a:t>
            </a:r>
            <a:r>
              <a:rPr lang="en-US" sz="580" i="0" u="none" strike="noStrike" cap="none" dirty="0">
                <a:solidFill>
                  <a:schemeClr val="dk1"/>
                </a:solidFill>
                <a:latin typeface="Arial"/>
                <a:ea typeface="Arial"/>
                <a:cs typeface="Arial"/>
                <a:sym typeface="Arial"/>
              </a:rPr>
              <a:t> This shows that students who are employed have a lower chance of being involved in more extracurricular activities than the students who are unemployed.</a:t>
            </a:r>
          </a:p>
          <a:p>
            <a:pPr marL="0" marR="0" lvl="0" indent="0" rtl="0">
              <a:spcBef>
                <a:spcPts val="500"/>
              </a:spcBef>
              <a:spcAft>
                <a:spcPts val="0"/>
              </a:spcAft>
              <a:buNone/>
            </a:pPr>
            <a:r>
              <a:rPr lang="en-US" sz="650" b="1" i="0" u="none" strike="noStrike" cap="none" dirty="0">
                <a:solidFill>
                  <a:schemeClr val="dk1"/>
                </a:solidFill>
                <a:latin typeface="Arial"/>
                <a:ea typeface="Arial"/>
                <a:cs typeface="Arial"/>
                <a:sym typeface="Arial"/>
              </a:rPr>
              <a:t>Conclusions</a:t>
            </a:r>
          </a:p>
          <a:p>
            <a:pPr marL="0" marR="0" lvl="0" indent="0" rtl="0">
              <a:spcBef>
                <a:spcPts val="500"/>
              </a:spcBef>
              <a:spcAft>
                <a:spcPts val="0"/>
              </a:spcAft>
              <a:buNone/>
            </a:pPr>
            <a:r>
              <a:rPr lang="en-US" sz="580" i="0" u="none" strike="noStrike" cap="none" dirty="0">
                <a:solidFill>
                  <a:schemeClr val="dk1"/>
                </a:solidFill>
                <a:latin typeface="Arial"/>
                <a:ea typeface="Arial"/>
                <a:cs typeface="Arial"/>
                <a:sym typeface="Arial"/>
              </a:rPr>
              <a:t>The findings from the statistical analyses of the relationship between employment status and extracurricular involvement proved to be statistically significant and showed that employed students are less likely than unemployed students to be involved in more extracurricular activities. A strength of this analysis is that the p-value is much lower than 0.05, suggesting that the relationship is without a doubt significant. A limitation of the analysis is that students actively looking for a job were binned with unemployed students, which could be generalizing. Suggestions for future research include looking into the reasons employed students are less involved in extracurricular activities. Suggestions for interventions at ASU could include </a:t>
            </a:r>
            <a:r>
              <a:rPr lang="en-US" sz="580" b="1" i="0" u="none" strike="noStrike" cap="none" dirty="0">
                <a:solidFill>
                  <a:schemeClr val="dk1"/>
                </a:solidFill>
                <a:latin typeface="Arial"/>
                <a:ea typeface="Arial"/>
                <a:cs typeface="Arial"/>
                <a:sym typeface="Arial"/>
              </a:rPr>
              <a:t>expanding outreach programs </a:t>
            </a:r>
            <a:r>
              <a:rPr lang="en-US" sz="580" i="0" u="none" strike="noStrike" cap="none" dirty="0">
                <a:solidFill>
                  <a:schemeClr val="dk1"/>
                </a:solidFill>
                <a:latin typeface="Arial"/>
                <a:ea typeface="Arial"/>
                <a:cs typeface="Arial"/>
                <a:sym typeface="Arial"/>
              </a:rPr>
              <a:t>for student involvement. </a:t>
            </a:r>
          </a:p>
        </p:txBody>
      </p:sp>
      <p:sp>
        <p:nvSpPr>
          <p:cNvPr id="91" name="Google Shape;91;p1"/>
          <p:cNvSpPr txBox="1">
            <a:spLocks noGrp="1"/>
          </p:cNvSpPr>
          <p:nvPr>
            <p:ph type="ctrTitle"/>
          </p:nvPr>
        </p:nvSpPr>
        <p:spPr>
          <a:xfrm>
            <a:off x="3184434" y="1390886"/>
            <a:ext cx="5823132" cy="4181099"/>
          </a:xfrm>
          <a:prstGeom prst="rect">
            <a:avLst/>
          </a:prstGeom>
          <a:noFill/>
          <a:ln>
            <a:noFill/>
          </a:ln>
        </p:spPr>
        <p:txBody>
          <a:bodyPr spcFirstLastPara="1" wrap="square" lIns="91425" tIns="45700" rIns="91425" bIns="45700" anchor="t" anchorCtr="0">
            <a:noAutofit/>
          </a:bodyPr>
          <a:lstStyle/>
          <a:p>
            <a:pPr marL="0" lvl="0" indent="0" algn="ctr" rtl="0">
              <a:lnSpc>
                <a:spcPct val="150000"/>
              </a:lnSpc>
              <a:spcBef>
                <a:spcPts val="0"/>
              </a:spcBef>
              <a:spcAft>
                <a:spcPts val="0"/>
              </a:spcAft>
              <a:buClr>
                <a:schemeClr val="lt1"/>
              </a:buClr>
              <a:buSzPts val="2700"/>
              <a:buFont typeface="Arial"/>
              <a:buNone/>
            </a:pPr>
            <a:r>
              <a:rPr lang="en-US" sz="3100" b="1" dirty="0">
                <a:solidFill>
                  <a:schemeClr val="bg1"/>
                </a:solidFill>
                <a:latin typeface="Arial"/>
                <a:ea typeface="Arial"/>
                <a:cs typeface="Arial"/>
                <a:sym typeface="Arial"/>
              </a:rPr>
              <a:t>Employed college students are less likely to participate in extracurricular activities compared to their unemployed counterparts.</a:t>
            </a:r>
            <a:br>
              <a:rPr lang="en-US" sz="2700" b="1" dirty="0">
                <a:solidFill>
                  <a:schemeClr val="lt1"/>
                </a:solidFill>
                <a:latin typeface="Arial"/>
                <a:ea typeface="Arial"/>
                <a:cs typeface="Arial"/>
                <a:sym typeface="Arial"/>
              </a:rPr>
            </a:br>
            <a:endParaRPr lang="en-US" sz="2700" b="1" dirty="0">
              <a:solidFill>
                <a:schemeClr val="lt1"/>
              </a:solidFill>
              <a:latin typeface="Arial"/>
              <a:ea typeface="Arial"/>
              <a:cs typeface="Arial"/>
              <a:sym typeface="Arial"/>
            </a:endParaRPr>
          </a:p>
        </p:txBody>
      </p:sp>
      <p:sp>
        <p:nvSpPr>
          <p:cNvPr id="92" name="Google Shape;92;p1"/>
          <p:cNvSpPr/>
          <p:nvPr/>
        </p:nvSpPr>
        <p:spPr>
          <a:xfrm>
            <a:off x="9429321" y="1116319"/>
            <a:ext cx="2675891" cy="5696857"/>
          </a:xfrm>
          <a:prstGeom prst="rect">
            <a:avLst/>
          </a:prstGeom>
          <a:solidFill>
            <a:schemeClr val="lt1"/>
          </a:solidFill>
          <a:ln>
            <a:noFill/>
          </a:ln>
        </p:spPr>
        <p:txBody>
          <a:bodyPr spcFirstLastPara="1" wrap="square" lIns="76200" tIns="133350" rIns="76200" bIns="45700" anchor="t" anchorCtr="0">
            <a:noAutofit/>
          </a:bodyPr>
          <a:lstStyle/>
          <a:p>
            <a:pPr marL="0" marR="0" lvl="0" indent="0" rtl="0">
              <a:spcBef>
                <a:spcPts val="0"/>
              </a:spcBef>
              <a:spcAft>
                <a:spcPts val="0"/>
              </a:spcAft>
              <a:buNone/>
            </a:pPr>
            <a:r>
              <a:rPr lang="en-US" sz="1000" b="1" dirty="0">
                <a:solidFill>
                  <a:schemeClr val="dk1"/>
                </a:solidFill>
                <a:latin typeface="Arial"/>
                <a:ea typeface="Calibri"/>
                <a:cs typeface="Arial"/>
                <a:sym typeface="Arial"/>
              </a:rPr>
              <a:t>Table</a:t>
            </a:r>
            <a:endParaRPr lang="en-US" sz="1000" b="1" i="0" strike="noStrike" cap="none" dirty="0">
              <a:solidFill>
                <a:schemeClr val="dk1"/>
              </a:solidFill>
              <a:latin typeface="Arial"/>
              <a:ea typeface="Calibri"/>
              <a:cs typeface="Arial"/>
              <a:sym typeface="Arial"/>
            </a:endParaRPr>
          </a:p>
          <a:p>
            <a:pPr marL="0" marR="0" lvl="0" indent="0" rtl="0">
              <a:spcBef>
                <a:spcPts val="0"/>
              </a:spcBef>
              <a:spcAft>
                <a:spcPts val="0"/>
              </a:spcAft>
              <a:buNone/>
            </a:pPr>
            <a:r>
              <a:rPr lang="en-US" sz="1000" dirty="0">
                <a:solidFill>
                  <a:schemeClr val="dk1"/>
                </a:solidFill>
                <a:latin typeface="Arial"/>
                <a:ea typeface="Calibri"/>
                <a:cs typeface="Arial"/>
                <a:sym typeface="Arial"/>
              </a:rPr>
              <a:t>Shows a P-value of 0.00743.</a:t>
            </a:r>
          </a:p>
          <a:p>
            <a:pPr marL="0" marR="0" lvl="0" indent="0" algn="ctr" rtl="0">
              <a:spcBef>
                <a:spcPts val="0"/>
              </a:spcBef>
              <a:spcAft>
                <a:spcPts val="0"/>
              </a:spcAft>
              <a:buNone/>
            </a:pPr>
            <a:endParaRPr lang="en-US" sz="1000" dirty="0">
              <a:solidFill>
                <a:schemeClr val="dk1"/>
              </a:solidFill>
              <a:latin typeface="Arial"/>
              <a:ea typeface="Calibri"/>
              <a:cs typeface="Arial"/>
              <a:sym typeface="Arial"/>
            </a:endParaRPr>
          </a:p>
          <a:p>
            <a:pPr marL="0" marR="0" lvl="0" indent="0" algn="ctr" rtl="0">
              <a:spcBef>
                <a:spcPts val="0"/>
              </a:spcBef>
              <a:spcAft>
                <a:spcPts val="0"/>
              </a:spcAft>
              <a:buNone/>
            </a:pPr>
            <a:endParaRPr lang="en-US" sz="1000" dirty="0">
              <a:solidFill>
                <a:schemeClr val="dk1"/>
              </a:solidFill>
              <a:latin typeface="Arial"/>
              <a:ea typeface="Calibri"/>
              <a:cs typeface="Arial"/>
              <a:sym typeface="Arial"/>
            </a:endParaRPr>
          </a:p>
          <a:p>
            <a:pPr marL="0" marR="0" lvl="0" indent="0" algn="ctr" rtl="0">
              <a:spcBef>
                <a:spcPts val="0"/>
              </a:spcBef>
              <a:spcAft>
                <a:spcPts val="0"/>
              </a:spcAft>
              <a:buNone/>
            </a:pPr>
            <a:endParaRPr lang="en-US" sz="1000" dirty="0">
              <a:solidFill>
                <a:schemeClr val="dk1"/>
              </a:solidFill>
              <a:latin typeface="Arial"/>
              <a:ea typeface="Calibri"/>
              <a:cs typeface="Arial"/>
              <a:sym typeface="Arial"/>
            </a:endParaRPr>
          </a:p>
          <a:p>
            <a:pPr marL="0" marR="0" lvl="0" indent="0" algn="ctr" rtl="0">
              <a:spcBef>
                <a:spcPts val="0"/>
              </a:spcBef>
              <a:spcAft>
                <a:spcPts val="0"/>
              </a:spcAft>
              <a:buNone/>
            </a:pPr>
            <a:endParaRPr lang="en-US" sz="1000" dirty="0">
              <a:solidFill>
                <a:schemeClr val="dk1"/>
              </a:solidFill>
              <a:latin typeface="Arial"/>
              <a:ea typeface="Calibri"/>
              <a:cs typeface="Arial"/>
              <a:sym typeface="Arial"/>
            </a:endParaRPr>
          </a:p>
          <a:p>
            <a:pPr marL="0" marR="0" lvl="0" indent="0" algn="ctr" rtl="0">
              <a:spcBef>
                <a:spcPts val="0"/>
              </a:spcBef>
              <a:spcAft>
                <a:spcPts val="0"/>
              </a:spcAft>
              <a:buNone/>
            </a:pPr>
            <a:endParaRPr lang="en-US" sz="1000" dirty="0">
              <a:solidFill>
                <a:schemeClr val="dk1"/>
              </a:solidFill>
              <a:latin typeface="Arial"/>
              <a:ea typeface="Calibri"/>
              <a:cs typeface="Arial"/>
              <a:sym typeface="Arial"/>
            </a:endParaRPr>
          </a:p>
          <a:p>
            <a:pPr marL="0" marR="0" lvl="0" indent="0" algn="ctr" rtl="0">
              <a:spcBef>
                <a:spcPts val="0"/>
              </a:spcBef>
              <a:spcAft>
                <a:spcPts val="0"/>
              </a:spcAft>
              <a:buNone/>
            </a:pPr>
            <a:endParaRPr lang="en-US" sz="1000" dirty="0">
              <a:solidFill>
                <a:schemeClr val="dk1"/>
              </a:solidFill>
              <a:latin typeface="Arial"/>
              <a:ea typeface="Calibri"/>
              <a:cs typeface="Arial"/>
              <a:sym typeface="Arial"/>
            </a:endParaRPr>
          </a:p>
          <a:p>
            <a:pPr marL="0" marR="0" lvl="0" indent="0" algn="ctr" rtl="0">
              <a:spcBef>
                <a:spcPts val="0"/>
              </a:spcBef>
              <a:spcAft>
                <a:spcPts val="0"/>
              </a:spcAft>
              <a:buNone/>
            </a:pPr>
            <a:endParaRPr lang="en-US" sz="1000" dirty="0">
              <a:solidFill>
                <a:schemeClr val="dk1"/>
              </a:solidFill>
              <a:latin typeface="Arial"/>
              <a:ea typeface="Calibri"/>
              <a:cs typeface="Arial"/>
              <a:sym typeface="Arial"/>
            </a:endParaRPr>
          </a:p>
          <a:p>
            <a:pPr marL="0" marR="0" lvl="0" indent="0" rtl="0">
              <a:spcBef>
                <a:spcPts val="0"/>
              </a:spcBef>
              <a:spcAft>
                <a:spcPts val="0"/>
              </a:spcAft>
              <a:buNone/>
            </a:pPr>
            <a:r>
              <a:rPr lang="en-US" sz="1000" b="1" dirty="0">
                <a:solidFill>
                  <a:schemeClr val="dk1"/>
                </a:solidFill>
                <a:latin typeface="Arial"/>
                <a:ea typeface="Calibri"/>
                <a:cs typeface="Arial"/>
                <a:sym typeface="Arial"/>
              </a:rPr>
              <a:t>DAG Model</a:t>
            </a:r>
            <a:endParaRPr lang="en-US" sz="1000" dirty="0">
              <a:solidFill>
                <a:schemeClr val="dk1"/>
              </a:solidFill>
              <a:latin typeface="Arial"/>
              <a:ea typeface="Calibri"/>
              <a:cs typeface="Arial"/>
              <a:sym typeface="Arial"/>
            </a:endParaRPr>
          </a:p>
          <a:p>
            <a:pPr marL="0" marR="0" lvl="0" indent="0" rtl="0">
              <a:spcBef>
                <a:spcPts val="0"/>
              </a:spcBef>
              <a:spcAft>
                <a:spcPts val="0"/>
              </a:spcAft>
              <a:buNone/>
            </a:pPr>
            <a:r>
              <a:rPr lang="en-US" sz="1000" dirty="0">
                <a:solidFill>
                  <a:schemeClr val="dk1"/>
                </a:solidFill>
                <a:latin typeface="Arial"/>
                <a:ea typeface="Calibri"/>
                <a:cs typeface="Arial"/>
                <a:sym typeface="Arial"/>
              </a:rPr>
              <a:t>Model showed no confounding variables.</a:t>
            </a:r>
          </a:p>
          <a:p>
            <a:pPr marL="0" marR="0" lvl="0" indent="0" algn="ctr" rtl="0">
              <a:spcBef>
                <a:spcPts val="0"/>
              </a:spcBef>
              <a:spcAft>
                <a:spcPts val="0"/>
              </a:spcAft>
              <a:buNone/>
            </a:pPr>
            <a:endParaRPr lang="en-US" sz="1000" dirty="0">
              <a:solidFill>
                <a:schemeClr val="dk1"/>
              </a:solidFill>
              <a:latin typeface="Arial"/>
              <a:ea typeface="Calibri"/>
              <a:cs typeface="Arial"/>
              <a:sym typeface="Arial"/>
            </a:endParaRPr>
          </a:p>
          <a:p>
            <a:pPr marL="0" marR="0" lvl="0" indent="0" algn="ctr" rtl="0">
              <a:spcBef>
                <a:spcPts val="0"/>
              </a:spcBef>
              <a:spcAft>
                <a:spcPts val="0"/>
              </a:spcAft>
              <a:buNone/>
            </a:pPr>
            <a:endParaRPr lang="en-US" sz="1000" dirty="0">
              <a:solidFill>
                <a:schemeClr val="dk1"/>
              </a:solidFill>
              <a:latin typeface="Arial"/>
              <a:ea typeface="Calibri"/>
              <a:cs typeface="Arial"/>
              <a:sym typeface="Arial"/>
            </a:endParaRPr>
          </a:p>
          <a:p>
            <a:pPr marL="0" marR="0" lvl="0" indent="0" algn="ctr" rtl="0">
              <a:spcBef>
                <a:spcPts val="0"/>
              </a:spcBef>
              <a:spcAft>
                <a:spcPts val="0"/>
              </a:spcAft>
              <a:buNone/>
            </a:pPr>
            <a:endParaRPr lang="en-US" sz="1000" dirty="0">
              <a:solidFill>
                <a:schemeClr val="dk1"/>
              </a:solidFill>
              <a:latin typeface="Arial"/>
              <a:ea typeface="Calibri"/>
              <a:cs typeface="Arial"/>
              <a:sym typeface="Arial"/>
            </a:endParaRPr>
          </a:p>
          <a:p>
            <a:pPr marL="0" marR="0" lvl="0" indent="0" algn="ctr" rtl="0">
              <a:spcBef>
                <a:spcPts val="0"/>
              </a:spcBef>
              <a:spcAft>
                <a:spcPts val="0"/>
              </a:spcAft>
              <a:buNone/>
            </a:pPr>
            <a:endParaRPr lang="en-US" sz="1000" dirty="0">
              <a:solidFill>
                <a:schemeClr val="dk1"/>
              </a:solidFill>
              <a:latin typeface="Arial"/>
              <a:ea typeface="Calibri"/>
              <a:cs typeface="Arial"/>
              <a:sym typeface="Arial"/>
            </a:endParaRPr>
          </a:p>
          <a:p>
            <a:pPr marL="0" marR="0" lvl="0" indent="0" algn="ctr" rtl="0">
              <a:spcBef>
                <a:spcPts val="0"/>
              </a:spcBef>
              <a:spcAft>
                <a:spcPts val="0"/>
              </a:spcAft>
              <a:buNone/>
            </a:pPr>
            <a:endParaRPr lang="en-US" sz="1000" dirty="0">
              <a:solidFill>
                <a:schemeClr val="dk1"/>
              </a:solidFill>
              <a:latin typeface="Arial"/>
              <a:ea typeface="Calibri"/>
              <a:cs typeface="Arial"/>
              <a:sym typeface="Arial"/>
            </a:endParaRPr>
          </a:p>
          <a:p>
            <a:pPr marL="0" marR="0" lvl="0" indent="0" algn="ctr" rtl="0">
              <a:spcBef>
                <a:spcPts val="0"/>
              </a:spcBef>
              <a:spcAft>
                <a:spcPts val="0"/>
              </a:spcAft>
              <a:buNone/>
            </a:pPr>
            <a:endParaRPr lang="en-US" sz="1000" dirty="0">
              <a:solidFill>
                <a:schemeClr val="dk1"/>
              </a:solidFill>
              <a:latin typeface="Arial"/>
              <a:ea typeface="Calibri"/>
              <a:cs typeface="Arial"/>
              <a:sym typeface="Arial"/>
            </a:endParaRPr>
          </a:p>
          <a:p>
            <a:pPr marL="0" marR="0" lvl="0" indent="0" algn="ctr" rtl="0">
              <a:spcBef>
                <a:spcPts val="0"/>
              </a:spcBef>
              <a:spcAft>
                <a:spcPts val="0"/>
              </a:spcAft>
              <a:buNone/>
            </a:pPr>
            <a:endParaRPr lang="en-US" sz="1000" dirty="0">
              <a:solidFill>
                <a:schemeClr val="dk1"/>
              </a:solidFill>
              <a:latin typeface="Arial"/>
              <a:ea typeface="Calibri"/>
              <a:cs typeface="Arial"/>
              <a:sym typeface="Arial"/>
            </a:endParaRPr>
          </a:p>
          <a:p>
            <a:pPr marL="0" marR="0" lvl="0" indent="0" algn="ctr" rtl="0">
              <a:spcBef>
                <a:spcPts val="0"/>
              </a:spcBef>
              <a:spcAft>
                <a:spcPts val="0"/>
              </a:spcAft>
              <a:buNone/>
            </a:pPr>
            <a:endParaRPr lang="en-US" sz="1000" dirty="0">
              <a:solidFill>
                <a:schemeClr val="dk1"/>
              </a:solidFill>
              <a:latin typeface="Arial"/>
              <a:ea typeface="Calibri"/>
              <a:cs typeface="Arial"/>
              <a:sym typeface="Arial"/>
            </a:endParaRPr>
          </a:p>
          <a:p>
            <a:pPr marL="0" marR="0" lvl="0" indent="0" algn="ctr" rtl="0">
              <a:spcBef>
                <a:spcPts val="0"/>
              </a:spcBef>
              <a:spcAft>
                <a:spcPts val="0"/>
              </a:spcAft>
              <a:buNone/>
            </a:pPr>
            <a:endParaRPr lang="en-US" sz="1000" dirty="0">
              <a:solidFill>
                <a:schemeClr val="dk1"/>
              </a:solidFill>
              <a:latin typeface="Arial"/>
              <a:ea typeface="Calibri"/>
              <a:cs typeface="Arial"/>
              <a:sym typeface="Arial"/>
            </a:endParaRPr>
          </a:p>
          <a:p>
            <a:pPr marL="0" marR="0" lvl="0" indent="0" algn="ctr" rtl="0">
              <a:spcBef>
                <a:spcPts val="0"/>
              </a:spcBef>
              <a:spcAft>
                <a:spcPts val="0"/>
              </a:spcAft>
              <a:buNone/>
            </a:pPr>
            <a:endParaRPr lang="en-US" sz="1000" dirty="0">
              <a:solidFill>
                <a:schemeClr val="dk1"/>
              </a:solidFill>
              <a:latin typeface="Arial"/>
              <a:ea typeface="Calibri"/>
              <a:cs typeface="Arial"/>
              <a:sym typeface="Arial"/>
            </a:endParaRPr>
          </a:p>
          <a:p>
            <a:pPr marL="0" marR="0" lvl="0" indent="0" algn="ctr" rtl="0">
              <a:spcBef>
                <a:spcPts val="0"/>
              </a:spcBef>
              <a:spcAft>
                <a:spcPts val="0"/>
              </a:spcAft>
              <a:buNone/>
            </a:pPr>
            <a:endParaRPr lang="en-US" sz="1000" dirty="0">
              <a:solidFill>
                <a:schemeClr val="dk1"/>
              </a:solidFill>
              <a:latin typeface="Arial"/>
              <a:ea typeface="Calibri"/>
              <a:cs typeface="Arial"/>
              <a:sym typeface="Arial"/>
            </a:endParaRPr>
          </a:p>
          <a:p>
            <a:pPr marL="0" marR="0" lvl="0" indent="0" algn="ctr" rtl="0">
              <a:spcBef>
                <a:spcPts val="0"/>
              </a:spcBef>
              <a:spcAft>
                <a:spcPts val="0"/>
              </a:spcAft>
              <a:buNone/>
            </a:pPr>
            <a:endParaRPr lang="en-US" sz="1000" dirty="0">
              <a:solidFill>
                <a:schemeClr val="dk1"/>
              </a:solidFill>
              <a:latin typeface="Arial"/>
              <a:ea typeface="Calibri"/>
              <a:cs typeface="Arial"/>
              <a:sym typeface="Arial"/>
            </a:endParaRPr>
          </a:p>
          <a:p>
            <a:pPr marL="0" marR="0" lvl="0" indent="0" rtl="0">
              <a:spcBef>
                <a:spcPts val="0"/>
              </a:spcBef>
              <a:spcAft>
                <a:spcPts val="0"/>
              </a:spcAft>
              <a:buNone/>
            </a:pPr>
            <a:r>
              <a:rPr lang="en-US" sz="1000" b="1" dirty="0">
                <a:solidFill>
                  <a:schemeClr val="dk1"/>
                </a:solidFill>
                <a:latin typeface="Arial"/>
                <a:ea typeface="Calibri"/>
                <a:cs typeface="Arial"/>
                <a:sym typeface="Arial"/>
              </a:rPr>
              <a:t>Suggested Interventions: </a:t>
            </a:r>
          </a:p>
          <a:p>
            <a:pPr marL="0" marR="0" lvl="0" indent="0" rtl="0">
              <a:spcBef>
                <a:spcPts val="0"/>
              </a:spcBef>
              <a:spcAft>
                <a:spcPts val="0"/>
              </a:spcAft>
              <a:buNone/>
            </a:pPr>
            <a:r>
              <a:rPr lang="en-US" sz="1000" u="sng" dirty="0">
                <a:solidFill>
                  <a:schemeClr val="dk1"/>
                </a:solidFill>
                <a:latin typeface="Arial"/>
                <a:ea typeface="Calibri"/>
                <a:cs typeface="Arial"/>
                <a:sym typeface="Arial"/>
              </a:rPr>
              <a:t>ASU Office of Student Financial Aid:</a:t>
            </a:r>
          </a:p>
          <a:p>
            <a:pPr marL="0" marR="0" lvl="0" indent="0" rtl="0">
              <a:spcBef>
                <a:spcPts val="0"/>
              </a:spcBef>
              <a:spcAft>
                <a:spcPts val="0"/>
              </a:spcAft>
              <a:buNone/>
            </a:pPr>
            <a:r>
              <a:rPr lang="en-US" sz="1000" dirty="0">
                <a:solidFill>
                  <a:schemeClr val="dk1"/>
                </a:solidFill>
                <a:latin typeface="Arial"/>
                <a:ea typeface="Calibri"/>
                <a:cs typeface="Arial"/>
                <a:sym typeface="Arial"/>
              </a:rPr>
              <a:t>Helps students get access to financial aid resources and make the cost of attending college cheaper.</a:t>
            </a:r>
          </a:p>
          <a:p>
            <a:pPr marL="0" marR="0" lvl="0" indent="0" rtl="0">
              <a:spcBef>
                <a:spcPts val="0"/>
              </a:spcBef>
              <a:spcAft>
                <a:spcPts val="0"/>
              </a:spcAft>
              <a:buNone/>
            </a:pPr>
            <a:r>
              <a:rPr lang="en-US" sz="1000" u="sng" dirty="0">
                <a:solidFill>
                  <a:schemeClr val="dk1"/>
                </a:solidFill>
                <a:latin typeface="Arial"/>
                <a:ea typeface="Calibri"/>
                <a:cs typeface="Arial"/>
                <a:sym typeface="Arial"/>
              </a:rPr>
              <a:t>ASU Campus Activities:</a:t>
            </a:r>
          </a:p>
          <a:p>
            <a:pPr marL="0" marR="0" lvl="0" indent="0" rtl="0">
              <a:spcBef>
                <a:spcPts val="0"/>
              </a:spcBef>
              <a:spcAft>
                <a:spcPts val="0"/>
              </a:spcAft>
              <a:buNone/>
            </a:pPr>
            <a:r>
              <a:rPr lang="en-US" sz="1000" dirty="0">
                <a:solidFill>
                  <a:schemeClr val="dk1"/>
                </a:solidFill>
                <a:latin typeface="Arial"/>
                <a:ea typeface="Calibri"/>
                <a:cs typeface="Arial"/>
                <a:sym typeface="Arial"/>
              </a:rPr>
              <a:t>Program that encourages students to get involved in the many extracurricular activities available on campus. </a:t>
            </a:r>
          </a:p>
          <a:p>
            <a:pPr marL="0" marR="0" lvl="0" indent="0" rtl="0">
              <a:spcBef>
                <a:spcPts val="0"/>
              </a:spcBef>
              <a:spcAft>
                <a:spcPts val="0"/>
              </a:spcAft>
              <a:buNone/>
            </a:pPr>
            <a:r>
              <a:rPr lang="en-US" sz="1000" u="sng" dirty="0">
                <a:solidFill>
                  <a:schemeClr val="dk1"/>
                </a:solidFill>
                <a:latin typeface="Arial"/>
                <a:ea typeface="Calibri"/>
                <a:cs typeface="Arial"/>
                <a:sym typeface="Arial"/>
              </a:rPr>
              <a:t>Credit Wise Cats Seminar Project</a:t>
            </a:r>
          </a:p>
          <a:p>
            <a:pPr marL="0" marR="0" lvl="0" indent="0" rtl="0">
              <a:spcBef>
                <a:spcPts val="0"/>
              </a:spcBef>
              <a:spcAft>
                <a:spcPts val="0"/>
              </a:spcAft>
              <a:buNone/>
            </a:pPr>
            <a:r>
              <a:rPr lang="en-US" sz="1000" dirty="0">
                <a:solidFill>
                  <a:schemeClr val="dk1"/>
                </a:solidFill>
                <a:latin typeface="Arial"/>
                <a:ea typeface="Calibri"/>
                <a:cs typeface="Arial"/>
                <a:sym typeface="Arial"/>
              </a:rPr>
              <a:t>Financial literacy seminar program for college students meant to increase financial literacy. </a:t>
            </a:r>
            <a:r>
              <a:rPr lang="en-US" sz="1000" b="0" i="0" u="none" strike="noStrike" dirty="0">
                <a:solidFill>
                  <a:srgbClr val="000000"/>
                </a:solidFill>
                <a:effectLst/>
                <a:latin typeface="Arial" panose="020B0604020202020204" pitchFamily="34" charset="0"/>
              </a:rPr>
              <a:t>(Borden et al., 2007)</a:t>
            </a:r>
            <a:endParaRPr lang="en-US" sz="1000" dirty="0">
              <a:solidFill>
                <a:schemeClr val="dk1"/>
              </a:solidFill>
              <a:latin typeface="Arial"/>
              <a:ea typeface="Calibri"/>
              <a:cs typeface="Arial"/>
              <a:sym typeface="Arial"/>
            </a:endParaRPr>
          </a:p>
          <a:p>
            <a:pPr marL="0" marR="0" lvl="0" indent="0" algn="ctr" rtl="0">
              <a:spcBef>
                <a:spcPts val="0"/>
              </a:spcBef>
              <a:spcAft>
                <a:spcPts val="0"/>
              </a:spcAft>
              <a:buNone/>
            </a:pPr>
            <a:endParaRPr lang="en-US" sz="1000" i="0" u="none" strike="noStrike" cap="none" dirty="0">
              <a:solidFill>
                <a:schemeClr val="dk1"/>
              </a:solidFill>
              <a:latin typeface="Arial"/>
              <a:ea typeface="Calibri"/>
              <a:cs typeface="Arial"/>
              <a:sym typeface="Arial"/>
            </a:endParaRPr>
          </a:p>
          <a:p>
            <a:pPr marL="0" marR="0" lvl="0" indent="0" algn="ctr" rtl="0">
              <a:spcBef>
                <a:spcPts val="0"/>
              </a:spcBef>
              <a:spcAft>
                <a:spcPts val="0"/>
              </a:spcAft>
              <a:buNone/>
            </a:pPr>
            <a:endParaRPr lang="en-US" sz="1000" b="1" dirty="0">
              <a:solidFill>
                <a:schemeClr val="dk1"/>
              </a:solidFill>
              <a:latin typeface="Arial"/>
              <a:ea typeface="Calibri"/>
              <a:cs typeface="Arial"/>
              <a:sym typeface="Arial"/>
            </a:endParaRPr>
          </a:p>
          <a:p>
            <a:pPr marL="0" marR="0" lvl="0" indent="0" algn="ctr" rtl="0">
              <a:spcBef>
                <a:spcPts val="0"/>
              </a:spcBef>
              <a:spcAft>
                <a:spcPts val="0"/>
              </a:spcAft>
              <a:buNone/>
            </a:pPr>
            <a:endParaRPr lang="en-US" sz="1000" b="1" i="0" u="none" strike="noStrike" cap="none" dirty="0">
              <a:solidFill>
                <a:schemeClr val="dk1"/>
              </a:solidFill>
              <a:latin typeface="Arial"/>
              <a:ea typeface="Calibri"/>
              <a:cs typeface="Arial"/>
              <a:sym typeface="Arial"/>
            </a:endParaRPr>
          </a:p>
        </p:txBody>
      </p:sp>
      <p:sp>
        <p:nvSpPr>
          <p:cNvPr id="93" name="Google Shape;93;p1"/>
          <p:cNvSpPr/>
          <p:nvPr/>
        </p:nvSpPr>
        <p:spPr>
          <a:xfrm>
            <a:off x="-6991" y="0"/>
            <a:ext cx="12210363" cy="1070158"/>
          </a:xfrm>
          <a:prstGeom prst="rect">
            <a:avLst/>
          </a:prstGeom>
          <a:solidFill>
            <a:schemeClr val="accent4">
              <a:lumMod val="60000"/>
              <a:lumOff val="40000"/>
            </a:schemeClr>
          </a:solidFill>
          <a:ln>
            <a:noFill/>
          </a:ln>
        </p:spPr>
        <p:txBody>
          <a:bodyPr spcFirstLastPara="1" wrap="square" lIns="91425" tIns="45700" rIns="91425" bIns="45700" anchor="ctr" anchorCtr="0">
            <a:noAutofit/>
          </a:bodyPr>
          <a:lstStyle/>
          <a:p>
            <a:pPr marL="0" marR="0" lvl="0" indent="0" rtl="0">
              <a:spcBef>
                <a:spcPts val="0"/>
              </a:spcBef>
              <a:spcAft>
                <a:spcPts val="0"/>
              </a:spcAft>
              <a:buNone/>
            </a:pPr>
            <a:r>
              <a:rPr lang="en-US" sz="2500" b="1" dirty="0">
                <a:solidFill>
                  <a:srgbClr val="000000"/>
                </a:solidFill>
                <a:latin typeface="Arial"/>
                <a:ea typeface="Arial"/>
                <a:cs typeface="Arial"/>
                <a:sym typeface="Arial"/>
              </a:rPr>
              <a:t>Impact of Student Employment on Extracurricular Engagement </a:t>
            </a:r>
          </a:p>
          <a:p>
            <a:pPr marL="0" marR="0" lvl="0" indent="0" rtl="0">
              <a:spcBef>
                <a:spcPts val="0"/>
              </a:spcBef>
              <a:spcAft>
                <a:spcPts val="0"/>
              </a:spcAft>
              <a:buNone/>
            </a:pPr>
            <a:r>
              <a:rPr lang="en-US" sz="1800" dirty="0">
                <a:solidFill>
                  <a:srgbClr val="000000"/>
                </a:solidFill>
                <a:latin typeface="Arial"/>
                <a:ea typeface="Arial"/>
                <a:cs typeface="Arial"/>
                <a:sym typeface="Arial"/>
              </a:rPr>
              <a:t>Emma Getz</a:t>
            </a:r>
            <a:endParaRPr lang="en-US" sz="900" b="1" dirty="0">
              <a:solidFill>
                <a:srgbClr val="000000"/>
              </a:solidFill>
              <a:latin typeface="Arial"/>
              <a:ea typeface="Arial"/>
              <a:cs typeface="Arial"/>
              <a:sym typeface="Arial"/>
            </a:endParaRPr>
          </a:p>
          <a:p>
            <a:pPr marL="0" marR="0" lvl="0" indent="0" rtl="0">
              <a:spcBef>
                <a:spcPts val="0"/>
              </a:spcBef>
              <a:spcAft>
                <a:spcPts val="0"/>
              </a:spcAft>
              <a:buNone/>
            </a:pPr>
            <a:r>
              <a:rPr lang="en-US" sz="1350" dirty="0">
                <a:solidFill>
                  <a:srgbClr val="000000"/>
                </a:solidFill>
                <a:latin typeface="Arial"/>
                <a:ea typeface="Arial"/>
                <a:cs typeface="Arial"/>
                <a:sym typeface="Arial"/>
              </a:rPr>
              <a:t>Appalachian State University</a:t>
            </a:r>
            <a:endParaRPr dirty="0"/>
          </a:p>
        </p:txBody>
      </p:sp>
      <p:pic>
        <p:nvPicPr>
          <p:cNvPr id="3" name="Picture 2" descr="A diagram of a network">
            <a:extLst>
              <a:ext uri="{FF2B5EF4-FFF2-40B4-BE49-F238E27FC236}">
                <a16:creationId xmlns:a16="http://schemas.microsoft.com/office/drawing/2014/main" id="{B20FE81F-EC0C-56A6-4F81-A754435D2944}"/>
              </a:ext>
            </a:extLst>
          </p:cNvPr>
          <p:cNvPicPr>
            <a:picLocks noChangeAspect="1"/>
          </p:cNvPicPr>
          <p:nvPr/>
        </p:nvPicPr>
        <p:blipFill>
          <a:blip r:embed="rId3"/>
          <a:stretch>
            <a:fillRect/>
          </a:stretch>
        </p:blipFill>
        <p:spPr>
          <a:xfrm>
            <a:off x="9611230" y="3034658"/>
            <a:ext cx="2366490" cy="1563243"/>
          </a:xfrm>
          <a:prstGeom prst="rect">
            <a:avLst/>
          </a:prstGeom>
        </p:spPr>
      </p:pic>
      <p:pic>
        <p:nvPicPr>
          <p:cNvPr id="7" name="Picture 6">
            <a:extLst>
              <a:ext uri="{FF2B5EF4-FFF2-40B4-BE49-F238E27FC236}">
                <a16:creationId xmlns:a16="http://schemas.microsoft.com/office/drawing/2014/main" id="{0626D84D-1033-0B59-B21F-AD1F688A7FA1}"/>
              </a:ext>
            </a:extLst>
          </p:cNvPr>
          <p:cNvPicPr>
            <a:picLocks noChangeAspect="1"/>
          </p:cNvPicPr>
          <p:nvPr/>
        </p:nvPicPr>
        <p:blipFill>
          <a:blip r:embed="rId4"/>
          <a:stretch>
            <a:fillRect/>
          </a:stretch>
        </p:blipFill>
        <p:spPr>
          <a:xfrm>
            <a:off x="9485929" y="1638685"/>
            <a:ext cx="2617092" cy="777332"/>
          </a:xfrm>
          <a:prstGeom prst="rect">
            <a:avLst/>
          </a:prstGeom>
        </p:spPr>
      </p:pic>
      <p:pic>
        <p:nvPicPr>
          <p:cNvPr id="5" name="Picture 4" descr="A qr code with a white background&#10;&#10;Description automatically generated">
            <a:extLst>
              <a:ext uri="{FF2B5EF4-FFF2-40B4-BE49-F238E27FC236}">
                <a16:creationId xmlns:a16="http://schemas.microsoft.com/office/drawing/2014/main" id="{AD5D700C-0E76-4B3A-0930-95230EE5F763}"/>
              </a:ext>
            </a:extLst>
          </p:cNvPr>
          <p:cNvPicPr>
            <a:picLocks noChangeAspect="1"/>
          </p:cNvPicPr>
          <p:nvPr/>
        </p:nvPicPr>
        <p:blipFill>
          <a:blip r:embed="rId5"/>
          <a:stretch>
            <a:fillRect/>
          </a:stretch>
        </p:blipFill>
        <p:spPr>
          <a:xfrm>
            <a:off x="5400557" y="5097540"/>
            <a:ext cx="1390886" cy="1390886"/>
          </a:xfrm>
          <a:prstGeom prst="rect">
            <a:avLst/>
          </a:prstGeom>
        </p:spPr>
      </p:pic>
      <p:pic>
        <p:nvPicPr>
          <p:cNvPr id="1028" name="Picture 4" descr="Appalachian State University Logo PNG Vector (AI) Free Download">
            <a:extLst>
              <a:ext uri="{FF2B5EF4-FFF2-40B4-BE49-F238E27FC236}">
                <a16:creationId xmlns:a16="http://schemas.microsoft.com/office/drawing/2014/main" id="{F15F7EE5-137D-A037-EE37-254931B400D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43634" y="399158"/>
            <a:ext cx="2159387" cy="5542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2EBFD1-A84F-43E6-86F5-FC301F924302}"/>
              </a:ext>
            </a:extLst>
          </p:cNvPr>
          <p:cNvSpPr>
            <a:spLocks noGrp="1"/>
          </p:cNvSpPr>
          <p:nvPr>
            <p:ph idx="1"/>
          </p:nvPr>
        </p:nvSpPr>
        <p:spPr>
          <a:xfrm>
            <a:off x="163285" y="261257"/>
            <a:ext cx="11843657" cy="6346372"/>
          </a:xfrm>
        </p:spPr>
        <p:txBody>
          <a:bodyPr>
            <a:noAutofit/>
          </a:bodyPr>
          <a:lstStyle/>
          <a:p>
            <a:pPr marL="0" indent="0" algn="ctr" rtl="0">
              <a:spcBef>
                <a:spcPts val="0"/>
              </a:spcBef>
              <a:spcAft>
                <a:spcPts val="0"/>
              </a:spcAft>
              <a:buNone/>
            </a:pPr>
            <a:r>
              <a:rPr lang="en-US" sz="1300" b="1" i="0" dirty="0">
                <a:solidFill>
                  <a:srgbClr val="000000"/>
                </a:solidFill>
                <a:effectLst/>
                <a:latin typeface="Times New Roman" panose="02020603050405020304" pitchFamily="18" charset="0"/>
              </a:rPr>
              <a:t>Abstract - Impact of Student Employment on Extracurricular Engagement </a:t>
            </a:r>
            <a:endParaRPr lang="en-US" sz="1300" b="1" dirty="0">
              <a:effectLst/>
            </a:endParaRPr>
          </a:p>
          <a:p>
            <a:pPr algn="ctr" rtl="0">
              <a:spcBef>
                <a:spcPts val="0"/>
              </a:spcBef>
              <a:spcAft>
                <a:spcPts val="0"/>
              </a:spcAft>
            </a:pPr>
            <a:r>
              <a:rPr lang="en-US" sz="1200" b="0" i="0" u="none" strike="noStrike" dirty="0">
                <a:solidFill>
                  <a:srgbClr val="000000"/>
                </a:solidFill>
                <a:effectLst/>
                <a:latin typeface="Times New Roman" panose="02020603050405020304" pitchFamily="18" charset="0"/>
              </a:rPr>
              <a:t>By Emma Getz</a:t>
            </a:r>
            <a:endParaRPr lang="en-US" sz="1200" b="0" dirty="0">
              <a:effectLst/>
            </a:endParaRPr>
          </a:p>
          <a:p>
            <a:pPr marL="0" indent="0" rtl="0">
              <a:spcBef>
                <a:spcPts val="0"/>
              </a:spcBef>
              <a:spcAft>
                <a:spcPts val="0"/>
              </a:spcAft>
              <a:buNone/>
            </a:pPr>
            <a:br>
              <a:rPr lang="en-US" sz="1200" b="0" dirty="0">
                <a:effectLst/>
              </a:rPr>
            </a:br>
            <a:r>
              <a:rPr lang="en-US" sz="1200" b="1" i="0" u="none" strike="noStrike" dirty="0">
                <a:solidFill>
                  <a:srgbClr val="000000"/>
                </a:solidFill>
                <a:effectLst/>
                <a:latin typeface="Times New Roman" panose="02020603050405020304" pitchFamily="18" charset="0"/>
              </a:rPr>
              <a:t>Purpose:</a:t>
            </a:r>
            <a:r>
              <a:rPr lang="en-US" sz="1200" b="0" i="0" u="none" strike="noStrike" dirty="0">
                <a:solidFill>
                  <a:srgbClr val="000000"/>
                </a:solidFill>
                <a:effectLst/>
                <a:latin typeface="Times New Roman" panose="02020603050405020304" pitchFamily="18" charset="0"/>
              </a:rPr>
              <a:t> The purpose of this study was to evaluate whether being an employee is associated with the number of extracurricular activities students are involved with. This study is important because it examines a potential barrier to student extracurricular involvement, which has been shown to enhance the college experience for students (Buckley &amp; Lee, 2018).</a:t>
            </a:r>
          </a:p>
          <a:p>
            <a:pPr marL="0" indent="0" rtl="0">
              <a:spcBef>
                <a:spcPts val="0"/>
              </a:spcBef>
              <a:spcAft>
                <a:spcPts val="0"/>
              </a:spcAft>
              <a:buNone/>
            </a:pPr>
            <a:endParaRPr lang="en-US" sz="1200" b="0" dirty="0">
              <a:effectLst/>
            </a:endParaRPr>
          </a:p>
          <a:p>
            <a:pPr marL="0" indent="0" rtl="0">
              <a:spcBef>
                <a:spcPts val="0"/>
              </a:spcBef>
              <a:spcAft>
                <a:spcPts val="0"/>
              </a:spcAft>
              <a:buNone/>
            </a:pPr>
            <a:r>
              <a:rPr lang="en-US" sz="1200" b="1" i="0" u="none" strike="noStrike" dirty="0">
                <a:solidFill>
                  <a:srgbClr val="000000"/>
                </a:solidFill>
                <a:effectLst/>
                <a:latin typeface="Times New Roman" panose="02020603050405020304" pitchFamily="18" charset="0"/>
              </a:rPr>
              <a:t>Methods:</a:t>
            </a:r>
            <a:r>
              <a:rPr lang="en-US" sz="1200" b="0" i="0" u="none" strike="noStrike" dirty="0">
                <a:solidFill>
                  <a:srgbClr val="000000"/>
                </a:solidFill>
                <a:effectLst/>
                <a:latin typeface="Times New Roman" panose="02020603050405020304" pitchFamily="18" charset="0"/>
              </a:rPr>
              <a:t> In 2019, a random sample of student emails and additional convenience sampling of students from Appalachian State University were surveyed for the campus’ health needs assessment. The following survey items were used to measure student employment and extracurricular involvement: “How many university sponsored extracurricular activities (e.g., intramural or club sports, Student Government Association (SGA), Residence Hall Association (RHA) etc.) do you participate in?” and “are you currently a wage earning employee, either on-campus or off-campus?” The statistical tests used to analyze the data were a chi-square test and a logistic regression model. A chi-square test is used to see if there is a relationship between two dichotomous variables. The assumptions of a chi-square test are that the data is from a survey from people at one point in time and that the independent variable and dependent variable are dichotomous. The campus wellness survey data is data taken from a survey at one point in time, which meets the first assumption. Answer choices from both the independent and dependent variables, employment and extracurricular activity, were binned in order to make these two variables dichotomous. Because of this, these variables satisfy the second assumption. The survey item regarding extracurricular activities was binned so that the two options were students participating in 0-2 extracurriculars and students participating in 3+ extracurriculars. The survey item regarding employment status was binned so that the two options were currently employed students and currently unemployed students / currently unemployed students who are actively seeking a job. A logistic regression model assesses a relationship between variables while taking into account confounding variables. This model is used for qualitative data with a dichotomous outcome variable. The variables in this study were qualitative and the outcome variable, extracurricular activities, was dichotomous as its answers were binned into two options. Therefore, the variables and data used for the assumptions of a logistic regression model. A </a:t>
            </a:r>
            <a:r>
              <a:rPr lang="en-US" sz="1200" b="0" i="0" u="none" strike="noStrike" dirty="0" err="1">
                <a:solidFill>
                  <a:srgbClr val="000000"/>
                </a:solidFill>
                <a:effectLst/>
                <a:latin typeface="Times New Roman" panose="02020603050405020304" pitchFamily="18" charset="0"/>
              </a:rPr>
              <a:t>DAGitty</a:t>
            </a:r>
            <a:r>
              <a:rPr lang="en-US" sz="1200" b="0" i="0" u="none" strike="noStrike" dirty="0">
                <a:solidFill>
                  <a:srgbClr val="000000"/>
                </a:solidFill>
                <a:effectLst/>
                <a:latin typeface="Times New Roman" panose="02020603050405020304" pitchFamily="18" charset="0"/>
              </a:rPr>
              <a:t> model was analyzed which showed no confounding variables, so none were adjusted for in the logistic regression model. </a:t>
            </a:r>
          </a:p>
          <a:p>
            <a:pPr marL="0" indent="0" rtl="0">
              <a:spcBef>
                <a:spcPts val="0"/>
              </a:spcBef>
              <a:spcAft>
                <a:spcPts val="0"/>
              </a:spcAft>
              <a:buNone/>
            </a:pPr>
            <a:endParaRPr lang="en-US" sz="1200" b="0" dirty="0">
              <a:effectLst/>
            </a:endParaRPr>
          </a:p>
          <a:p>
            <a:pPr marL="0" indent="0" rtl="0">
              <a:spcBef>
                <a:spcPts val="0"/>
              </a:spcBef>
              <a:spcAft>
                <a:spcPts val="0"/>
              </a:spcAft>
              <a:buNone/>
            </a:pPr>
            <a:r>
              <a:rPr lang="en-US" sz="1200" b="1" i="0" u="none" strike="noStrike" dirty="0">
                <a:solidFill>
                  <a:srgbClr val="000000"/>
                </a:solidFill>
                <a:effectLst/>
                <a:latin typeface="Times New Roman" panose="02020603050405020304" pitchFamily="18" charset="0"/>
              </a:rPr>
              <a:t>Results:</a:t>
            </a:r>
            <a:r>
              <a:rPr lang="en-US" sz="1200" b="0" i="0" u="none" strike="noStrike" dirty="0">
                <a:solidFill>
                  <a:srgbClr val="000000"/>
                </a:solidFill>
                <a:effectLst/>
                <a:latin typeface="Times New Roman" panose="02020603050405020304" pitchFamily="18" charset="0"/>
              </a:rPr>
              <a:t> This study resulted in a significant relationship between student employment and student extracurricular involvement. For the independent variable, the number of exposed students (currently employed) was 664 and the number of unexposed students (not currently employed / not currently employed and actively seeking a job) was 891. For the dependent variable, there were 1319 students who participated in 0-2 extracurriculars and 228 students who participated in 3+ extracurriculars. The P-value which resulted  from the chi-squared test is 0.00774. This value, compared to an alpha value of 0.05, shows that the relationship between employment status and extracurricular involvement is significant. The odds ratio from the logistic regression analysis was 1.1. This shows that students who are employed have a lower chance of being involved in more extracurricular activities than the students who are unemployed.</a:t>
            </a:r>
          </a:p>
          <a:p>
            <a:pPr marL="0" indent="0" rtl="0">
              <a:spcBef>
                <a:spcPts val="0"/>
              </a:spcBef>
              <a:spcAft>
                <a:spcPts val="0"/>
              </a:spcAft>
              <a:buNone/>
            </a:pPr>
            <a:endParaRPr lang="en-US" sz="1200" b="0" dirty="0">
              <a:effectLst/>
            </a:endParaRPr>
          </a:p>
          <a:p>
            <a:pPr marL="0" indent="0" rtl="0">
              <a:spcBef>
                <a:spcPts val="0"/>
              </a:spcBef>
              <a:spcAft>
                <a:spcPts val="0"/>
              </a:spcAft>
              <a:buNone/>
            </a:pPr>
            <a:r>
              <a:rPr lang="en-US" sz="1200" b="1" i="0" u="none" strike="noStrike" dirty="0">
                <a:solidFill>
                  <a:srgbClr val="000000"/>
                </a:solidFill>
                <a:effectLst/>
                <a:latin typeface="Times New Roman" panose="02020603050405020304" pitchFamily="18" charset="0"/>
              </a:rPr>
              <a:t>Discussion:</a:t>
            </a:r>
            <a:r>
              <a:rPr lang="en-US" sz="1200" b="0" i="0" u="none" strike="noStrike" dirty="0">
                <a:solidFill>
                  <a:srgbClr val="000000"/>
                </a:solidFill>
                <a:effectLst/>
                <a:latin typeface="Times New Roman" panose="02020603050405020304" pitchFamily="18" charset="0"/>
              </a:rPr>
              <a:t> The significant relationship between employment status and extracurricular activity and the finding that employed students have a lower likelihood of participating in 3 or more extracurricular activities compared to unemployed students leads to many implications for further research and interventions. Potential explanations for this observed relationship include time constraints of working students leading to less time for campus activities, students prioritizing employment over involvement, and financial incentives leading students to choose paid employment over unpaid extracurricular activities. Interventions that could be strengthened at Appalachian State are the Office of Student Financial Aid which helps students get access to financial aid resources that could make the cost of attending college lower, the Appalachian State Scholarship Application, which is a scholarship portal open to all students which could award students aid to lower the cost of college, and Campus Activities which is a program that encourages students to get involved with extracurricular activities on campus. An intervention that could be implemented at Appalachian State to help students with financial issues is the Credit Wise Cats Seminar Project (Borden et al., 2007), which could increase financial literacy for students and lower the necessity of students working more than they need to in order to have time for extracurriculars. Directions for further research could include longitudinal studies analyzing the long-term effects of employment on student involvement in campus activities or qualitative research exploring the perceptions of employed and unemployed students on extracurricular involvement. In conclusion, this study proves a significant relationship between student employment status and extracurricular involvement. It emphasizes the importance of a work-life balance to increase the likelihood of students being involved on campus. </a:t>
            </a:r>
            <a:br>
              <a:rPr lang="en-US" sz="1200" dirty="0"/>
            </a:br>
            <a:endParaRPr lang="en-US" sz="1200" dirty="0"/>
          </a:p>
        </p:txBody>
      </p:sp>
    </p:spTree>
    <p:extLst>
      <p:ext uri="{BB962C8B-B14F-4D97-AF65-F5344CB8AC3E}">
        <p14:creationId xmlns:p14="http://schemas.microsoft.com/office/powerpoint/2010/main" val="243764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855737-00DC-E8A2-9957-2229EA923BFA}"/>
              </a:ext>
            </a:extLst>
          </p:cNvPr>
          <p:cNvSpPr>
            <a:spLocks noGrp="1"/>
          </p:cNvSpPr>
          <p:nvPr>
            <p:ph idx="1"/>
          </p:nvPr>
        </p:nvSpPr>
        <p:spPr>
          <a:xfrm>
            <a:off x="838200" y="511629"/>
            <a:ext cx="10515600" cy="5867400"/>
          </a:xfrm>
        </p:spPr>
        <p:txBody>
          <a:bodyPr>
            <a:normAutofit fontScale="92500" lnSpcReduction="10000"/>
          </a:bodyPr>
          <a:lstStyle/>
          <a:p>
            <a:pPr marL="0" indent="0" algn="ctr" rtl="0">
              <a:spcBef>
                <a:spcPts val="0"/>
              </a:spcBef>
              <a:spcAft>
                <a:spcPts val="0"/>
              </a:spcAft>
              <a:buNone/>
            </a:pPr>
            <a:r>
              <a:rPr lang="en-US" sz="1800" b="1" i="0" u="none" strike="noStrike" dirty="0">
                <a:solidFill>
                  <a:srgbClr val="000000"/>
                </a:solidFill>
                <a:effectLst/>
                <a:latin typeface="Times New Roman" panose="02020603050405020304" pitchFamily="18" charset="0"/>
              </a:rPr>
              <a:t>References</a:t>
            </a:r>
            <a:br>
              <a:rPr lang="en-US" b="0" dirty="0">
                <a:effectLst/>
              </a:rPr>
            </a:br>
            <a:endParaRPr lang="en-US" b="0" dirty="0">
              <a:effectLst/>
            </a:endParaRPr>
          </a:p>
          <a:p>
            <a:pPr rtl="0">
              <a:spcBef>
                <a:spcPts val="0"/>
              </a:spcBef>
              <a:spcAft>
                <a:spcPts val="0"/>
              </a:spcAft>
            </a:pPr>
            <a:r>
              <a:rPr lang="en-US" sz="1800" b="0" i="0" u="none" strike="noStrike" dirty="0">
                <a:solidFill>
                  <a:srgbClr val="000000"/>
                </a:solidFill>
                <a:effectLst/>
                <a:latin typeface="Times New Roman" panose="02020603050405020304" pitchFamily="18" charset="0"/>
              </a:rPr>
              <a:t>Borden, L. M., Lee, S.-A., </a:t>
            </a:r>
            <a:r>
              <a:rPr lang="en-US" sz="1800" b="0" i="0" u="none" strike="noStrike" dirty="0" err="1">
                <a:solidFill>
                  <a:srgbClr val="000000"/>
                </a:solidFill>
                <a:effectLst/>
                <a:latin typeface="Times New Roman" panose="02020603050405020304" pitchFamily="18" charset="0"/>
              </a:rPr>
              <a:t>Serido</a:t>
            </a:r>
            <a:r>
              <a:rPr lang="en-US" sz="1800" b="0" i="0" u="none" strike="noStrike" dirty="0">
                <a:solidFill>
                  <a:srgbClr val="000000"/>
                </a:solidFill>
                <a:effectLst/>
                <a:latin typeface="Times New Roman" panose="02020603050405020304" pitchFamily="18" charset="0"/>
              </a:rPr>
              <a:t>, J., &amp; Collins, D. (2007). Changing college students’ financial knowledge, attitudes, and behavior through seminar participation. </a:t>
            </a:r>
            <a:r>
              <a:rPr lang="en-US" sz="1800" b="0" i="1" u="none" strike="noStrike" dirty="0">
                <a:solidFill>
                  <a:srgbClr val="000000"/>
                </a:solidFill>
                <a:effectLst/>
                <a:latin typeface="Times New Roman" panose="02020603050405020304" pitchFamily="18" charset="0"/>
              </a:rPr>
              <a:t>Journal of Family and Economic Issues</a:t>
            </a:r>
            <a:r>
              <a:rPr lang="en-US" sz="1800" b="0" i="0" u="none" strike="noStrike" dirty="0">
                <a:solidFill>
                  <a:srgbClr val="000000"/>
                </a:solidFill>
                <a:effectLst/>
                <a:latin typeface="Times New Roman" panose="02020603050405020304" pitchFamily="18" charset="0"/>
              </a:rPr>
              <a:t>, </a:t>
            </a:r>
            <a:r>
              <a:rPr lang="en-US" sz="1800" b="0" i="1" u="none" strike="noStrike" dirty="0">
                <a:solidFill>
                  <a:srgbClr val="000000"/>
                </a:solidFill>
                <a:effectLst/>
                <a:latin typeface="Times New Roman" panose="02020603050405020304" pitchFamily="18" charset="0"/>
              </a:rPr>
              <a:t>29</a:t>
            </a:r>
            <a:r>
              <a:rPr lang="en-US" sz="1800" b="0" i="0" u="none" strike="noStrike" dirty="0">
                <a:solidFill>
                  <a:srgbClr val="000000"/>
                </a:solidFill>
                <a:effectLst/>
                <a:latin typeface="Times New Roman" panose="02020603050405020304" pitchFamily="18" charset="0"/>
              </a:rPr>
              <a:t>(1), 23–40. </a:t>
            </a:r>
            <a:r>
              <a:rPr lang="en-US" sz="1800" b="0" i="0" u="none" strike="noStrike" dirty="0">
                <a:solidFill>
                  <a:srgbClr val="000000"/>
                </a:solidFill>
                <a:effectLst/>
                <a:latin typeface="Times New Roman" panose="02020603050405020304" pitchFamily="18" charset="0"/>
                <a:hlinkClick r:id="rId2"/>
              </a:rPr>
              <a:t>https://doi.org/10.1007/s10834-007-9087-2</a:t>
            </a:r>
            <a:endParaRPr lang="en-US" dirty="0"/>
          </a:p>
          <a:p>
            <a:pPr rtl="0">
              <a:spcBef>
                <a:spcPts val="0"/>
              </a:spcBef>
              <a:spcAft>
                <a:spcPts val="0"/>
              </a:spcAft>
            </a:pPr>
            <a:endParaRPr lang="en-US" sz="1800" b="0" i="0" u="none" strike="noStrike" dirty="0">
              <a:solidFill>
                <a:srgbClr val="000000"/>
              </a:solidFill>
              <a:effectLst/>
              <a:latin typeface="Times New Roman" panose="02020603050405020304" pitchFamily="18" charset="0"/>
            </a:endParaRPr>
          </a:p>
          <a:p>
            <a:pPr rtl="0">
              <a:spcBef>
                <a:spcPts val="0"/>
              </a:spcBef>
              <a:spcAft>
                <a:spcPts val="0"/>
              </a:spcAft>
            </a:pPr>
            <a:r>
              <a:rPr lang="en-US" sz="1800" b="0" i="0" u="none" strike="noStrike" dirty="0">
                <a:solidFill>
                  <a:srgbClr val="000000"/>
                </a:solidFill>
                <a:effectLst/>
                <a:latin typeface="Times New Roman" panose="02020603050405020304" pitchFamily="18" charset="0"/>
              </a:rPr>
              <a:t>Buckley, P., &amp; Lee, P. (2018). The impact of extra-curricular activity on the student experience. </a:t>
            </a:r>
            <a:r>
              <a:rPr lang="en-US" sz="1800" b="0" i="1" u="none" strike="noStrike" dirty="0">
                <a:solidFill>
                  <a:srgbClr val="000000"/>
                </a:solidFill>
                <a:effectLst/>
                <a:latin typeface="Times New Roman" panose="02020603050405020304" pitchFamily="18" charset="0"/>
              </a:rPr>
              <a:t>Active Learning in Higher Education</a:t>
            </a:r>
            <a:r>
              <a:rPr lang="en-US" sz="1800" b="0" i="0" u="none" strike="noStrike" dirty="0">
                <a:solidFill>
                  <a:srgbClr val="000000"/>
                </a:solidFill>
                <a:effectLst/>
                <a:latin typeface="Times New Roman" panose="02020603050405020304" pitchFamily="18" charset="0"/>
              </a:rPr>
              <a:t>, </a:t>
            </a:r>
            <a:r>
              <a:rPr lang="en-US" sz="1800" b="0" i="1" u="none" strike="noStrike" dirty="0">
                <a:solidFill>
                  <a:srgbClr val="000000"/>
                </a:solidFill>
                <a:effectLst/>
                <a:latin typeface="Times New Roman" panose="02020603050405020304" pitchFamily="18" charset="0"/>
              </a:rPr>
              <a:t>22</a:t>
            </a:r>
            <a:r>
              <a:rPr lang="en-US" sz="1800" b="0" i="0" u="none" strike="noStrike" dirty="0">
                <a:solidFill>
                  <a:srgbClr val="000000"/>
                </a:solidFill>
                <a:effectLst/>
                <a:latin typeface="Times New Roman" panose="02020603050405020304" pitchFamily="18" charset="0"/>
              </a:rPr>
              <a:t>(1), 37–48. </a:t>
            </a:r>
            <a:r>
              <a:rPr lang="en-US" sz="1800" b="0" i="0" u="none" strike="noStrike" dirty="0">
                <a:solidFill>
                  <a:srgbClr val="000000"/>
                </a:solidFill>
                <a:effectLst/>
                <a:latin typeface="Times New Roman" panose="02020603050405020304" pitchFamily="18" charset="0"/>
                <a:hlinkClick r:id="rId3"/>
              </a:rPr>
              <a:t>https://doi.org/10.1177/1469787418808988</a:t>
            </a:r>
            <a:endParaRPr lang="en-US" sz="1800" b="0" i="0" u="none" strike="noStrike" dirty="0">
              <a:solidFill>
                <a:srgbClr val="000000"/>
              </a:solidFill>
              <a:effectLst/>
              <a:latin typeface="Times New Roman" panose="02020603050405020304" pitchFamily="18" charset="0"/>
            </a:endParaRPr>
          </a:p>
          <a:p>
            <a:pPr rtl="0">
              <a:spcBef>
                <a:spcPts val="0"/>
              </a:spcBef>
              <a:spcAft>
                <a:spcPts val="0"/>
              </a:spcAft>
            </a:pPr>
            <a:endParaRPr lang="en-US" sz="1800" dirty="0">
              <a:solidFill>
                <a:srgbClr val="000000"/>
              </a:solidFill>
              <a:latin typeface="Times New Roman" panose="02020603050405020304" pitchFamily="18" charset="0"/>
            </a:endParaRPr>
          </a:p>
          <a:p>
            <a:pPr rtl="0">
              <a:spcBef>
                <a:spcPts val="0"/>
              </a:spcBef>
              <a:spcAft>
                <a:spcPts val="0"/>
              </a:spcAft>
            </a:pPr>
            <a:r>
              <a:rPr lang="en-US" sz="1800" b="0" i="0" u="none" strike="noStrike" dirty="0">
                <a:solidFill>
                  <a:srgbClr val="000000"/>
                </a:solidFill>
                <a:effectLst/>
                <a:latin typeface="Times New Roman" panose="02020603050405020304" pitchFamily="18" charset="0"/>
              </a:rPr>
              <a:t>Deloitte. (2021). </a:t>
            </a:r>
            <a:r>
              <a:rPr lang="en-US" sz="1800" b="0" i="1" u="none" strike="noStrike" dirty="0">
                <a:solidFill>
                  <a:srgbClr val="000000"/>
                </a:solidFill>
                <a:effectLst/>
                <a:latin typeface="Times New Roman" panose="02020603050405020304" pitchFamily="18" charset="0"/>
              </a:rPr>
              <a:t>Appalachian State University</a:t>
            </a:r>
            <a:r>
              <a:rPr lang="en-US" sz="1800" b="0" i="0" u="none" strike="noStrike" dirty="0">
                <a:solidFill>
                  <a:srgbClr val="000000"/>
                </a:solidFill>
                <a:effectLst/>
                <a:latin typeface="Times New Roman" panose="02020603050405020304" pitchFamily="18" charset="0"/>
              </a:rPr>
              <a:t>. Data USA. </a:t>
            </a:r>
            <a:r>
              <a:rPr lang="en-US" sz="1800" b="0" i="0" u="none" strike="noStrike" dirty="0">
                <a:solidFill>
                  <a:srgbClr val="000000"/>
                </a:solidFill>
                <a:effectLst/>
                <a:latin typeface="Times New Roman" panose="02020603050405020304" pitchFamily="18" charset="0"/>
                <a:hlinkClick r:id="rId4"/>
              </a:rPr>
              <a:t>https://datausa.io/profile/university/appalachian-state-university</a:t>
            </a:r>
            <a:endParaRPr lang="en-US" sz="1800" b="0" i="0" u="none" strike="noStrike" dirty="0">
              <a:solidFill>
                <a:srgbClr val="000000"/>
              </a:solidFill>
              <a:effectLst/>
              <a:latin typeface="Times New Roman" panose="02020603050405020304" pitchFamily="18" charset="0"/>
            </a:endParaRPr>
          </a:p>
          <a:p>
            <a:pPr rtl="0">
              <a:spcBef>
                <a:spcPts val="0"/>
              </a:spcBef>
              <a:spcAft>
                <a:spcPts val="0"/>
              </a:spcAft>
            </a:pPr>
            <a:endParaRPr lang="en-US" sz="1800" dirty="0">
              <a:solidFill>
                <a:srgbClr val="000000"/>
              </a:solidFill>
              <a:latin typeface="Times New Roman" panose="02020603050405020304" pitchFamily="18" charset="0"/>
            </a:endParaRPr>
          </a:p>
          <a:p>
            <a:pPr rtl="0">
              <a:spcBef>
                <a:spcPts val="0"/>
              </a:spcBef>
              <a:spcAft>
                <a:spcPts val="0"/>
              </a:spcAft>
            </a:pPr>
            <a:r>
              <a:rPr lang="en-US" sz="1800" b="0" i="0" u="none" strike="noStrike" dirty="0">
                <a:solidFill>
                  <a:srgbClr val="000000"/>
                </a:solidFill>
                <a:effectLst/>
                <a:latin typeface="Times New Roman" panose="02020603050405020304" pitchFamily="18" charset="0"/>
              </a:rPr>
              <a:t>Hanson, M., &amp; Checked, F. (2024, January 10). </a:t>
            </a:r>
            <a:r>
              <a:rPr lang="en-US" sz="1800" b="0" i="1" u="none" strike="noStrike" dirty="0">
                <a:solidFill>
                  <a:srgbClr val="000000"/>
                </a:solidFill>
                <a:effectLst/>
                <a:latin typeface="Times New Roman" panose="02020603050405020304" pitchFamily="18" charset="0"/>
              </a:rPr>
              <a:t>College enrollment statistics [2023]: Total + by demographic</a:t>
            </a:r>
            <a:r>
              <a:rPr lang="en-US" sz="1800" b="0" i="0" u="none" strike="noStrike" dirty="0">
                <a:solidFill>
                  <a:srgbClr val="000000"/>
                </a:solidFill>
                <a:effectLst/>
                <a:latin typeface="Times New Roman" panose="02020603050405020304" pitchFamily="18" charset="0"/>
              </a:rPr>
              <a:t>. Education Data Initiative. </a:t>
            </a:r>
            <a:r>
              <a:rPr lang="en-US" sz="1800" b="0" i="0" u="none" strike="noStrike" dirty="0">
                <a:solidFill>
                  <a:srgbClr val="000000"/>
                </a:solidFill>
                <a:effectLst/>
                <a:latin typeface="Times New Roman" panose="02020603050405020304" pitchFamily="18" charset="0"/>
                <a:hlinkClick r:id="rId5"/>
              </a:rPr>
              <a:t>https://educationdata.org/college-enrollment-statistics</a:t>
            </a:r>
            <a:endParaRPr lang="en-US" dirty="0"/>
          </a:p>
          <a:p>
            <a:pPr rtl="0">
              <a:spcBef>
                <a:spcPts val="0"/>
              </a:spcBef>
              <a:spcAft>
                <a:spcPts val="0"/>
              </a:spcAft>
            </a:pPr>
            <a:endParaRPr lang="en-US" sz="1800" b="0" i="0" u="none" strike="noStrike" dirty="0">
              <a:solidFill>
                <a:srgbClr val="000000"/>
              </a:solidFill>
              <a:effectLst/>
              <a:latin typeface="Times New Roman" panose="02020603050405020304" pitchFamily="18" charset="0"/>
            </a:endParaRPr>
          </a:p>
          <a:p>
            <a:pPr rtl="0">
              <a:spcBef>
                <a:spcPts val="0"/>
              </a:spcBef>
              <a:spcAft>
                <a:spcPts val="0"/>
              </a:spcAft>
            </a:pPr>
            <a:r>
              <a:rPr lang="en-US" sz="1800" b="0" i="0" u="none" strike="noStrike" dirty="0">
                <a:solidFill>
                  <a:srgbClr val="000000"/>
                </a:solidFill>
                <a:effectLst/>
                <a:latin typeface="Times New Roman" panose="02020603050405020304" pitchFamily="18" charset="0"/>
              </a:rPr>
              <a:t>King, A. E., McQuarrie, F. A. E., &amp; Brigham, S. M. (2020). Exploring the relationship between student success and participation in extracurricular activities. </a:t>
            </a:r>
            <a:r>
              <a:rPr lang="en-US" sz="1800" b="0" i="1" u="none" strike="noStrike" dirty="0">
                <a:solidFill>
                  <a:srgbClr val="000000"/>
                </a:solidFill>
                <a:effectLst/>
                <a:latin typeface="Times New Roman" panose="02020603050405020304" pitchFamily="18" charset="0"/>
              </a:rPr>
              <a:t>SCHOLE: A Journal of Leisure Studies and Recreation Education</a:t>
            </a:r>
            <a:r>
              <a:rPr lang="en-US" sz="1800" b="0" i="0" u="none" strike="noStrike" dirty="0">
                <a:solidFill>
                  <a:srgbClr val="000000"/>
                </a:solidFill>
                <a:effectLst/>
                <a:latin typeface="Times New Roman" panose="02020603050405020304" pitchFamily="18" charset="0"/>
              </a:rPr>
              <a:t>, </a:t>
            </a:r>
            <a:r>
              <a:rPr lang="en-US" sz="1800" b="0" i="1" u="none" strike="noStrike" dirty="0">
                <a:solidFill>
                  <a:srgbClr val="000000"/>
                </a:solidFill>
                <a:effectLst/>
                <a:latin typeface="Times New Roman" panose="02020603050405020304" pitchFamily="18" charset="0"/>
              </a:rPr>
              <a:t>36</a:t>
            </a:r>
            <a:r>
              <a:rPr lang="en-US" sz="1800" b="0" i="0" u="none" strike="noStrike" dirty="0">
                <a:solidFill>
                  <a:srgbClr val="000000"/>
                </a:solidFill>
                <a:effectLst/>
                <a:latin typeface="Times New Roman" panose="02020603050405020304" pitchFamily="18" charset="0"/>
              </a:rPr>
              <a:t>(1–2), 42–58. </a:t>
            </a:r>
            <a:r>
              <a:rPr lang="en-US" sz="1800" b="0" i="0" u="none" strike="noStrike" dirty="0">
                <a:solidFill>
                  <a:srgbClr val="000000"/>
                </a:solidFill>
                <a:effectLst/>
                <a:latin typeface="Times New Roman" panose="02020603050405020304" pitchFamily="18" charset="0"/>
                <a:hlinkClick r:id="rId6"/>
              </a:rPr>
              <a:t>https://doi.org/10.1080/1937156x.2020.1760751</a:t>
            </a:r>
            <a:endParaRPr lang="en-US" sz="1800" b="0" i="0" u="none" strike="noStrike" dirty="0">
              <a:solidFill>
                <a:srgbClr val="000000"/>
              </a:solidFill>
              <a:effectLst/>
              <a:latin typeface="Times New Roman" panose="02020603050405020304" pitchFamily="18" charset="0"/>
            </a:endParaRPr>
          </a:p>
          <a:p>
            <a:pPr rtl="0">
              <a:spcBef>
                <a:spcPts val="0"/>
              </a:spcBef>
              <a:spcAft>
                <a:spcPts val="0"/>
              </a:spcAft>
            </a:pPr>
            <a:endParaRPr lang="en-US" sz="1800" dirty="0">
              <a:solidFill>
                <a:srgbClr val="000000"/>
              </a:solidFill>
              <a:latin typeface="Times New Roman" panose="02020603050405020304" pitchFamily="18" charset="0"/>
            </a:endParaRPr>
          </a:p>
          <a:p>
            <a:pPr rtl="0">
              <a:spcBef>
                <a:spcPts val="0"/>
              </a:spcBef>
              <a:spcAft>
                <a:spcPts val="0"/>
              </a:spcAft>
            </a:pPr>
            <a:r>
              <a:rPr lang="en-US" sz="1800" b="0" i="0" u="none" strike="noStrike" dirty="0">
                <a:solidFill>
                  <a:srgbClr val="000000"/>
                </a:solidFill>
                <a:effectLst/>
                <a:latin typeface="Times New Roman" panose="02020603050405020304" pitchFamily="18" charset="0"/>
              </a:rPr>
              <a:t>Miller, K., Danner, F., &amp; Staten, R. (2008). Relationship of work hours with selected health behaviors and academic progress among a college student cohort. </a:t>
            </a:r>
            <a:r>
              <a:rPr lang="en-US" sz="1800" b="0" i="1" u="none" strike="noStrike" dirty="0">
                <a:solidFill>
                  <a:srgbClr val="000000"/>
                </a:solidFill>
                <a:effectLst/>
                <a:latin typeface="Times New Roman" panose="02020603050405020304" pitchFamily="18" charset="0"/>
              </a:rPr>
              <a:t>Journal of American College Health</a:t>
            </a:r>
            <a:r>
              <a:rPr lang="en-US" sz="1800" b="0" i="0" u="none" strike="noStrike" dirty="0">
                <a:solidFill>
                  <a:srgbClr val="000000"/>
                </a:solidFill>
                <a:effectLst/>
                <a:latin typeface="Times New Roman" panose="02020603050405020304" pitchFamily="18" charset="0"/>
              </a:rPr>
              <a:t>, </a:t>
            </a:r>
            <a:r>
              <a:rPr lang="en-US" sz="1800" b="0" i="1" u="none" strike="noStrike" dirty="0">
                <a:solidFill>
                  <a:srgbClr val="000000"/>
                </a:solidFill>
                <a:effectLst/>
                <a:latin typeface="Times New Roman" panose="02020603050405020304" pitchFamily="18" charset="0"/>
              </a:rPr>
              <a:t>56</a:t>
            </a:r>
            <a:r>
              <a:rPr lang="en-US" sz="1800" b="0" i="0" u="none" strike="noStrike" dirty="0">
                <a:solidFill>
                  <a:srgbClr val="000000"/>
                </a:solidFill>
                <a:effectLst/>
                <a:latin typeface="Times New Roman" panose="02020603050405020304" pitchFamily="18" charset="0"/>
              </a:rPr>
              <a:t>(6), 675–679. </a:t>
            </a:r>
            <a:r>
              <a:rPr lang="en-US" sz="1800" b="0" i="0" u="none" strike="noStrike" dirty="0">
                <a:solidFill>
                  <a:srgbClr val="000000"/>
                </a:solidFill>
                <a:effectLst/>
                <a:latin typeface="Times New Roman" panose="02020603050405020304" pitchFamily="18" charset="0"/>
                <a:hlinkClick r:id="rId7"/>
              </a:rPr>
              <a:t>https://doi.org/10.3200/jach.56.6.675-679</a:t>
            </a:r>
            <a:endParaRPr lang="en-US" dirty="0"/>
          </a:p>
          <a:p>
            <a:pPr rtl="0">
              <a:spcBef>
                <a:spcPts val="0"/>
              </a:spcBef>
              <a:spcAft>
                <a:spcPts val="0"/>
              </a:spcAft>
            </a:pPr>
            <a:endParaRPr lang="en-US" sz="1800" b="0" i="0" u="none" strike="noStrike" dirty="0">
              <a:solidFill>
                <a:srgbClr val="000000"/>
              </a:solidFill>
              <a:effectLst/>
              <a:latin typeface="Times New Roman" panose="02020603050405020304" pitchFamily="18" charset="0"/>
            </a:endParaRPr>
          </a:p>
          <a:p>
            <a:pPr rtl="0">
              <a:spcBef>
                <a:spcPts val="0"/>
              </a:spcBef>
              <a:spcAft>
                <a:spcPts val="0"/>
              </a:spcAft>
            </a:pPr>
            <a:r>
              <a:rPr lang="en-US" sz="1800" b="0" i="0" u="none" strike="noStrike" dirty="0" err="1">
                <a:solidFill>
                  <a:srgbClr val="000000"/>
                </a:solidFill>
                <a:effectLst/>
                <a:latin typeface="Times New Roman" panose="02020603050405020304" pitchFamily="18" charset="0"/>
              </a:rPr>
              <a:t>Nuijten</a:t>
            </a:r>
            <a:r>
              <a:rPr lang="en-US" sz="1800" b="0" i="0" u="none" strike="noStrike" dirty="0">
                <a:solidFill>
                  <a:srgbClr val="000000"/>
                </a:solidFill>
                <a:effectLst/>
                <a:latin typeface="Times New Roman" panose="02020603050405020304" pitchFamily="18" charset="0"/>
              </a:rPr>
              <a:t>, M. P., </a:t>
            </a:r>
            <a:r>
              <a:rPr lang="en-US" sz="1800" b="0" i="0" u="none" strike="noStrike" dirty="0" err="1">
                <a:solidFill>
                  <a:srgbClr val="000000"/>
                </a:solidFill>
                <a:effectLst/>
                <a:latin typeface="Times New Roman" panose="02020603050405020304" pitchFamily="18" charset="0"/>
              </a:rPr>
              <a:t>Poell</a:t>
            </a:r>
            <a:r>
              <a:rPr lang="en-US" sz="1800" b="0" i="0" u="none" strike="noStrike" dirty="0">
                <a:solidFill>
                  <a:srgbClr val="000000"/>
                </a:solidFill>
                <a:effectLst/>
                <a:latin typeface="Times New Roman" panose="02020603050405020304" pitchFamily="18" charset="0"/>
              </a:rPr>
              <a:t>, R. F., &amp; </a:t>
            </a:r>
            <a:r>
              <a:rPr lang="en-US" sz="1800" b="0" i="0" u="none" strike="noStrike" dirty="0" err="1">
                <a:solidFill>
                  <a:srgbClr val="000000"/>
                </a:solidFill>
                <a:effectLst/>
                <a:latin typeface="Times New Roman" panose="02020603050405020304" pitchFamily="18" charset="0"/>
              </a:rPr>
              <a:t>Alfes</a:t>
            </a:r>
            <a:r>
              <a:rPr lang="en-US" sz="1800" b="0" i="0" u="none" strike="noStrike" dirty="0">
                <a:solidFill>
                  <a:srgbClr val="000000"/>
                </a:solidFill>
                <a:effectLst/>
                <a:latin typeface="Times New Roman" panose="02020603050405020304" pitchFamily="18" charset="0"/>
              </a:rPr>
              <a:t>, K. (2017). Extracurricular activities of Dutch university students and their effect on employment opportunities as perceived by both students and organizations. </a:t>
            </a:r>
            <a:r>
              <a:rPr lang="en-US" sz="1800" b="0" i="1" u="none" strike="noStrike" dirty="0">
                <a:solidFill>
                  <a:srgbClr val="000000"/>
                </a:solidFill>
                <a:effectLst/>
                <a:latin typeface="Times New Roman" panose="02020603050405020304" pitchFamily="18" charset="0"/>
              </a:rPr>
              <a:t>International Journal of Selection and Assessment</a:t>
            </a:r>
            <a:r>
              <a:rPr lang="en-US" sz="1800" b="0" i="0" u="none" strike="noStrike" dirty="0">
                <a:solidFill>
                  <a:srgbClr val="000000"/>
                </a:solidFill>
                <a:effectLst/>
                <a:latin typeface="Times New Roman" panose="02020603050405020304" pitchFamily="18" charset="0"/>
              </a:rPr>
              <a:t>, </a:t>
            </a:r>
            <a:r>
              <a:rPr lang="en-US" sz="1800" b="0" i="1" u="none" strike="noStrike" dirty="0">
                <a:solidFill>
                  <a:srgbClr val="000000"/>
                </a:solidFill>
                <a:effectLst/>
                <a:latin typeface="Times New Roman" panose="02020603050405020304" pitchFamily="18" charset="0"/>
              </a:rPr>
              <a:t>25</a:t>
            </a:r>
            <a:r>
              <a:rPr lang="en-US" sz="1800" b="0" i="0" u="none" strike="noStrike" dirty="0">
                <a:solidFill>
                  <a:srgbClr val="000000"/>
                </a:solidFill>
                <a:effectLst/>
                <a:latin typeface="Times New Roman" panose="02020603050405020304" pitchFamily="18" charset="0"/>
              </a:rPr>
              <a:t>(4), 360–370. https://doi.org/10.1111/ijsa.12190 </a:t>
            </a:r>
          </a:p>
          <a:p>
            <a:pPr marL="0" indent="0" rtl="0">
              <a:spcBef>
                <a:spcPts val="0"/>
              </a:spcBef>
              <a:spcAft>
                <a:spcPts val="0"/>
              </a:spcAft>
              <a:buNone/>
            </a:pPr>
            <a:endParaRPr lang="en-US" dirty="0"/>
          </a:p>
        </p:txBody>
      </p:sp>
    </p:spTree>
    <p:extLst>
      <p:ext uri="{BB962C8B-B14F-4D97-AF65-F5344CB8AC3E}">
        <p14:creationId xmlns:p14="http://schemas.microsoft.com/office/powerpoint/2010/main" val="498304799"/>
      </p:ext>
    </p:extLst>
  </p:cSld>
  <p:clrMapOvr>
    <a:masterClrMapping/>
  </p:clrMapOvr>
</p:sld>
</file>

<file path=ppt/theme/theme1.xml><?xml version="1.0" encoding="utf-8"?>
<a:theme xmlns:a="http://schemas.openxmlformats.org/drawingml/2006/main" name="Office Theme">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TotalTime>
  <Words>1965</Words>
  <Application>Microsoft Office PowerPoint</Application>
  <PresentationFormat>Widescreen</PresentationFormat>
  <Paragraphs>69</Paragraphs>
  <Slides>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Calibri Light</vt:lpstr>
      <vt:lpstr>Times New Roman</vt:lpstr>
      <vt:lpstr>Office Theme</vt:lpstr>
      <vt:lpstr>Employed college students are less likely to participate in extracurricular activities compared to their unemployed counterparts.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Employed college students are less likely to participate in extracurricular activities compared to their unemployed counterparts.</dc:title>
  <dc:creator>Bledsoe, Hannah C</dc:creator>
  <cp:lastModifiedBy>Getz, Emma Grace</cp:lastModifiedBy>
  <cp:revision>6</cp:revision>
  <dcterms:created xsi:type="dcterms:W3CDTF">2022-03-18T01:37:41Z</dcterms:created>
  <dcterms:modified xsi:type="dcterms:W3CDTF">2024-04-25T17:54:01Z</dcterms:modified>
</cp:coreProperties>
</file>